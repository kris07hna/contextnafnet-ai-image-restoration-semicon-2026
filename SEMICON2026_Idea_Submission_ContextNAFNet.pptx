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8" r:id="rId10"/>
    <p:sldId id="267"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B5039A6-F36D-40EC-9C40-978F7891C0D3}" v="2" dt="2026-07-23T09:22:50.497"/>
    <p1510:client id="{99BAD0F8-86B1-4B0E-B507-B635FB6532E1}" v="1" dt="2026-07-24T04:49:31.73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896" autoAdjust="0"/>
    <p:restoredTop sz="94610"/>
  </p:normalViewPr>
  <p:slideViewPr>
    <p:cSldViewPr snapToGrid="0" snapToObjects="1">
      <p:cViewPr>
        <p:scale>
          <a:sx n="75" d="100"/>
          <a:sy n="75" d="100"/>
        </p:scale>
        <p:origin x="1210" y="3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382910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png"/><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31" name="Shape 0">
            <a:extLst>
              <a:ext uri="{FF2B5EF4-FFF2-40B4-BE49-F238E27FC236}">
                <a16:creationId xmlns:a16="http://schemas.microsoft.com/office/drawing/2014/main" id="{2BD26DD0-A441-CDA1-C7C4-500C0B482AE4}"/>
              </a:ext>
            </a:extLst>
          </p:cNvPr>
          <p:cNvSpPr/>
          <p:nvPr userDrawn="1"/>
        </p:nvSpPr>
        <p:spPr>
          <a:xfrm>
            <a:off x="0" y="0"/>
            <a:ext cx="12191695" cy="6858000"/>
          </a:xfrm>
          <a:prstGeom prst="rect">
            <a:avLst/>
          </a:prstGeom>
          <a:solidFill>
            <a:srgbClr val="000036"/>
          </a:solidFill>
          <a:ln/>
        </p:spPr>
        <p:txBody>
          <a:bodyPr/>
          <a:lstStyle/>
          <a:p>
            <a:endParaRPr lang="en-IN"/>
          </a:p>
        </p:txBody>
      </p:sp>
      <p:pic>
        <p:nvPicPr>
          <p:cNvPr id="33" name="Image 0" descr="preencoded.png">
            <a:extLst>
              <a:ext uri="{FF2B5EF4-FFF2-40B4-BE49-F238E27FC236}">
                <a16:creationId xmlns:a16="http://schemas.microsoft.com/office/drawing/2014/main" id="{9C02DD19-DD7E-1634-0056-B0B673F6409D}"/>
              </a:ext>
            </a:extLst>
          </p:cNvPr>
          <p:cNvPicPr>
            <a:picLocks noChangeAspect="1"/>
          </p:cNvPicPr>
          <p:nvPr userDrawn="1"/>
        </p:nvPicPr>
        <p:blipFill>
          <a:blip r:embed="rId2">
            <a:alphaModFix amt="15000"/>
          </a:blip>
          <a:srcRect l="12327" r="12327"/>
          <a:stretch/>
        </p:blipFill>
        <p:spPr>
          <a:xfrm>
            <a:off x="0" y="0"/>
            <a:ext cx="12191695" cy="6858000"/>
          </a:xfrm>
          <a:prstGeom prst="rect">
            <a:avLst/>
          </a:prstGeom>
        </p:spPr>
      </p:pic>
      <p:sp>
        <p:nvSpPr>
          <p:cNvPr id="35" name="Shape 1">
            <a:extLst>
              <a:ext uri="{FF2B5EF4-FFF2-40B4-BE49-F238E27FC236}">
                <a16:creationId xmlns:a16="http://schemas.microsoft.com/office/drawing/2014/main" id="{2896CD82-D6A3-3A0B-5BEE-489BF15E90F1}"/>
              </a:ext>
            </a:extLst>
          </p:cNvPr>
          <p:cNvSpPr/>
          <p:nvPr userDrawn="1"/>
        </p:nvSpPr>
        <p:spPr>
          <a:xfrm>
            <a:off x="571500" y="286207"/>
            <a:ext cx="11048695" cy="666598"/>
          </a:xfrm>
          <a:prstGeom prst="roundRect">
            <a:avLst>
              <a:gd name="adj" fmla="val 15677"/>
            </a:avLst>
          </a:prstGeom>
          <a:solidFill>
            <a:srgbClr val="FFFFFF">
              <a:alpha val="95000"/>
            </a:srgbClr>
          </a:solidFill>
          <a:ln/>
          <a:effectLst>
            <a:outerShdw blurRad="63500" dist="38100" dir="5400000" algn="bl" rotWithShape="0">
              <a:srgbClr val="000000">
                <a:alpha val="10000"/>
              </a:srgbClr>
            </a:outerShdw>
          </a:effectLst>
        </p:spPr>
        <p:txBody>
          <a:bodyPr/>
          <a:lstStyle/>
          <a:p>
            <a:endParaRPr lang="en-IN"/>
          </a:p>
        </p:txBody>
      </p:sp>
      <p:pic>
        <p:nvPicPr>
          <p:cNvPr id="37" name="Image 2" descr="preencoded.png">
            <a:extLst>
              <a:ext uri="{FF2B5EF4-FFF2-40B4-BE49-F238E27FC236}">
                <a16:creationId xmlns:a16="http://schemas.microsoft.com/office/drawing/2014/main" id="{FE4B1F73-561B-DEF0-4566-CD6294947263}"/>
              </a:ext>
            </a:extLst>
          </p:cNvPr>
          <p:cNvPicPr>
            <a:picLocks noChangeAspect="1"/>
          </p:cNvPicPr>
          <p:nvPr userDrawn="1"/>
        </p:nvPicPr>
        <p:blipFill>
          <a:blip r:embed="rId3"/>
          <a:srcRect/>
          <a:stretch/>
        </p:blipFill>
        <p:spPr>
          <a:xfrm>
            <a:off x="10858500" y="381305"/>
            <a:ext cx="476402" cy="476402"/>
          </a:xfrm>
          <a:prstGeom prst="rect">
            <a:avLst/>
          </a:prstGeom>
        </p:spPr>
      </p:pic>
      <p:pic>
        <p:nvPicPr>
          <p:cNvPr id="282" name="Picture 281">
            <a:extLst>
              <a:ext uri="{FF2B5EF4-FFF2-40B4-BE49-F238E27FC236}">
                <a16:creationId xmlns:a16="http://schemas.microsoft.com/office/drawing/2014/main" id="{BD66A30C-A2DE-61B6-8B7B-4CF622680E59}"/>
              </a:ext>
            </a:extLst>
          </p:cNvPr>
          <p:cNvPicPr>
            <a:picLocks noChangeAspect="1"/>
          </p:cNvPicPr>
          <p:nvPr userDrawn="1"/>
        </p:nvPicPr>
        <p:blipFill>
          <a:blip r:embed="rId4"/>
          <a:stretch>
            <a:fillRect/>
          </a:stretch>
        </p:blipFill>
        <p:spPr>
          <a:xfrm>
            <a:off x="758356" y="381305"/>
            <a:ext cx="5745480" cy="46736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e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jpe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10.png"/><Relationship Id="rId8"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jpe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jpeg"/><Relationship Id="rId4" Type="http://schemas.openxmlformats.org/officeDocument/2006/relationships/image" Target="../media/image13.jpeg"/><Relationship Id="rId5" Type="http://schemas.openxmlformats.org/officeDocument/2006/relationships/image" Target="../media/image2.png"/><Relationship Id="rId6" Type="http://schemas.openxmlformats.org/officeDocument/2006/relationships/image" Target="../media/image14.png"/><Relationship Id="rId7" Type="http://schemas.openxmlformats.org/officeDocument/2006/relationships/image" Target="../media/image12.png"/><Relationship Id="rId8"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jpeg"/><Relationship Id="rId4" Type="http://schemas.openxmlformats.org/officeDocument/2006/relationships/image" Target="../media/image13.jpeg"/><Relationship Id="rId5" Type="http://schemas.openxmlformats.org/officeDocument/2006/relationships/image" Target="../media/image2.png"/><Relationship Id="rId6" Type="http://schemas.openxmlformats.org/officeDocument/2006/relationships/image" Target="../media/image15.png"/><Relationship Id="rId7" Type="http://schemas.openxmlformats.org/officeDocument/2006/relationships/image" Target="../media/image12.png"/><Relationship Id="rId8" Type="http://schemas.openxmlformats.org/officeDocument/2006/relationships/image" Target="../media/image6.png"/><Relationship Id="rId9" Type="http://schemas.openxmlformats.org/officeDocument/2006/relationships/image" Target="../media/image2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jpeg"/><Relationship Id="rId4" Type="http://schemas.openxmlformats.org/officeDocument/2006/relationships/image" Target="../media/image13.jpeg"/><Relationship Id="rId5" Type="http://schemas.openxmlformats.org/officeDocument/2006/relationships/image" Target="../media/image2.png"/><Relationship Id="rId6" Type="http://schemas.openxmlformats.org/officeDocument/2006/relationships/image" Target="../media/image14.png"/><Relationship Id="rId7" Type="http://schemas.openxmlformats.org/officeDocument/2006/relationships/image" Target="../media/image12.png"/><Relationship Id="rId8"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jpeg"/><Relationship Id="rId4" Type="http://schemas.openxmlformats.org/officeDocument/2006/relationships/image" Target="../media/image13.jpeg"/><Relationship Id="rId5" Type="http://schemas.openxmlformats.org/officeDocument/2006/relationships/image" Target="../media/image2.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2.png"/><Relationship Id="rId10" Type="http://schemas.openxmlformats.org/officeDocument/2006/relationships/image" Target="../media/image6.png"/><Relationship Id="rId11" Type="http://schemas.openxmlformats.org/officeDocument/2006/relationships/image" Target="../media/image3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jpeg"/><Relationship Id="rId4" Type="http://schemas.openxmlformats.org/officeDocument/2006/relationships/image" Target="../media/image13.jpeg"/><Relationship Id="rId5" Type="http://schemas.openxmlformats.org/officeDocument/2006/relationships/image" Target="../media/image2.png"/><Relationship Id="rId6" Type="http://schemas.openxmlformats.org/officeDocument/2006/relationships/image" Target="../media/image19.png"/><Relationship Id="rId7" Type="http://schemas.openxmlformats.org/officeDocument/2006/relationships/image" Target="../media/image20.png"/><Relationship Id="rId8" Type="http://schemas.openxmlformats.org/officeDocument/2006/relationships/image" Target="../media/image21.png"/><Relationship Id="rId9" Type="http://schemas.openxmlformats.org/officeDocument/2006/relationships/image" Target="../media/image22.png"/><Relationship Id="rId10" Type="http://schemas.openxmlformats.org/officeDocument/2006/relationships/image" Target="../media/image12.png"/><Relationship Id="rId11"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jpeg"/><Relationship Id="rId4" Type="http://schemas.openxmlformats.org/officeDocument/2006/relationships/image" Target="../media/image13.jpeg"/><Relationship Id="rId5" Type="http://schemas.openxmlformats.org/officeDocument/2006/relationships/image" Target="../media/image2.png"/><Relationship Id="rId6" Type="http://schemas.openxmlformats.org/officeDocument/2006/relationships/image" Target="../media/image23.png"/><Relationship Id="rId7" Type="http://schemas.openxmlformats.org/officeDocument/2006/relationships/image" Target="../media/image24.png"/><Relationship Id="rId8" Type="http://schemas.openxmlformats.org/officeDocument/2006/relationships/image" Target="../media/image25.png"/><Relationship Id="rId9" Type="http://schemas.openxmlformats.org/officeDocument/2006/relationships/image" Target="../media/image26.png"/><Relationship Id="rId10" Type="http://schemas.openxmlformats.org/officeDocument/2006/relationships/image" Target="../media/image12.png"/><Relationship Id="rId11" Type="http://schemas.openxmlformats.org/officeDocument/2006/relationships/image" Target="../media/image6.png"/><Relationship Id="rId12" Type="http://schemas.openxmlformats.org/officeDocument/2006/relationships/hyperlink" Target="https://github.com/kris07hna/ContextNafNet-AI-Image-Restoration-Semicon-2026"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jpeg"/><Relationship Id="rId4" Type="http://schemas.openxmlformats.org/officeDocument/2006/relationships/image" Target="../media/image13.jpeg"/><Relationship Id="rId5" Type="http://schemas.openxmlformats.org/officeDocument/2006/relationships/image" Target="../media/image2.png"/><Relationship Id="rId6" Type="http://schemas.openxmlformats.org/officeDocument/2006/relationships/image" Target="../media/image27.png"/><Relationship Id="rId7" Type="http://schemas.openxmlformats.org/officeDocument/2006/relationships/image" Target="../media/image28.png"/><Relationship Id="rId8" Type="http://schemas.openxmlformats.org/officeDocument/2006/relationships/image" Target="../media/image12.png"/><Relationship Id="rId9"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00036"/>
          </a:solidFill>
          <a:ln/>
        </p:spPr>
        <p:txBody>
          <a:bodyPr/>
          <a:lstStyle/>
          <a:p>
            <a:endParaRPr lang="en-IN"/>
          </a:p>
        </p:txBody>
      </p:sp>
      <p:pic>
        <p:nvPicPr>
          <p:cNvPr id="3" name="Image 0" descr="preencoded.png"/>
          <p:cNvPicPr>
            <a:picLocks noChangeAspect="1"/>
          </p:cNvPicPr>
          <p:nvPr/>
        </p:nvPicPr>
        <p:blipFill>
          <a:blip r:embed="rId3">
            <a:alphaModFix amt="20000"/>
          </a:blip>
          <a:srcRect l="12327" r="12327"/>
          <a:stretch/>
        </p:blipFill>
        <p:spPr>
          <a:xfrm>
            <a:off x="0" y="0"/>
            <a:ext cx="12191695" cy="7292340"/>
          </a:xfrm>
          <a:prstGeom prst="rect">
            <a:avLst/>
          </a:prstGeom>
        </p:spPr>
      </p:pic>
      <p:sp>
        <p:nvSpPr>
          <p:cNvPr id="4" name="Shape 1"/>
          <p:cNvSpPr/>
          <p:nvPr/>
        </p:nvSpPr>
        <p:spPr>
          <a:xfrm>
            <a:off x="571500" y="381305"/>
            <a:ext cx="11048695" cy="857707"/>
          </a:xfrm>
          <a:prstGeom prst="roundRect">
            <a:avLst>
              <a:gd name="adj" fmla="val 9476"/>
            </a:avLst>
          </a:prstGeom>
          <a:solidFill>
            <a:srgbClr val="FFFFFF">
              <a:alpha val="95000"/>
            </a:srgbClr>
          </a:solidFill>
          <a:ln/>
          <a:effectLst>
            <a:outerShdw blurRad="63500" dist="38100" dir="5400000" algn="bl" rotWithShape="0">
              <a:srgbClr val="000000">
                <a:alpha val="10000"/>
              </a:srgbClr>
            </a:outerShdw>
          </a:effectLst>
        </p:spPr>
        <p:txBody>
          <a:bodyPr/>
          <a:lstStyle/>
          <a:p>
            <a:endParaRPr lang="en-IN"/>
          </a:p>
        </p:txBody>
      </p:sp>
      <p:sp>
        <p:nvSpPr>
          <p:cNvPr id="7" name="Shape 2"/>
          <p:cNvSpPr/>
          <p:nvPr/>
        </p:nvSpPr>
        <p:spPr>
          <a:xfrm>
            <a:off x="571500" y="2394815"/>
            <a:ext cx="11048695" cy="4362602"/>
          </a:xfrm>
          <a:prstGeom prst="roundRect">
            <a:avLst>
              <a:gd name="adj" fmla="val 732"/>
            </a:avLst>
          </a:prstGeom>
          <a:solidFill>
            <a:srgbClr val="FFFFFF">
              <a:alpha val="5000"/>
            </a:srgbClr>
          </a:solidFill>
          <a:ln w="12700">
            <a:solidFill>
              <a:srgbClr val="AEFF82">
                <a:alpha val="20000"/>
              </a:srgbClr>
            </a:solidFill>
            <a:prstDash val="solid"/>
          </a:ln>
        </p:spPr>
        <p:txBody>
          <a:bodyPr/>
          <a:lstStyle/>
          <a:p>
            <a:endParaRPr lang="en-IN"/>
          </a:p>
        </p:txBody>
      </p:sp>
      <p:sp>
        <p:nvSpPr>
          <p:cNvPr id="8" name="Shape 3"/>
          <p:cNvSpPr/>
          <p:nvPr/>
        </p:nvSpPr>
        <p:spPr>
          <a:xfrm>
            <a:off x="961949" y="3439058"/>
            <a:ext cx="10267798" cy="9144"/>
          </a:xfrm>
          <a:prstGeom prst="rect">
            <a:avLst/>
          </a:prstGeom>
          <a:solidFill>
            <a:srgbClr val="4B5563"/>
          </a:solidFill>
          <a:ln/>
        </p:spPr>
        <p:txBody>
          <a:bodyPr/>
          <a:lstStyle/>
          <a:p>
            <a:endParaRPr lang="en-IN"/>
          </a:p>
        </p:txBody>
      </p:sp>
      <p:sp>
        <p:nvSpPr>
          <p:cNvPr id="9" name="Shape 4"/>
          <p:cNvSpPr/>
          <p:nvPr/>
        </p:nvSpPr>
        <p:spPr>
          <a:xfrm>
            <a:off x="961949" y="5721401"/>
            <a:ext cx="10267798" cy="875995"/>
          </a:xfrm>
          <a:prstGeom prst="rect">
            <a:avLst/>
          </a:prstGeom>
          <a:solidFill>
            <a:srgbClr val="273383">
              <a:alpha val="40000"/>
            </a:srgbClr>
          </a:solidFill>
          <a:ln/>
        </p:spPr>
        <p:txBody>
          <a:bodyPr/>
          <a:lstStyle/>
          <a:p>
            <a:endParaRPr lang="en-IN"/>
          </a:p>
        </p:txBody>
      </p:sp>
      <p:sp>
        <p:nvSpPr>
          <p:cNvPr id="10" name="Shape 5"/>
          <p:cNvSpPr/>
          <p:nvPr/>
        </p:nvSpPr>
        <p:spPr>
          <a:xfrm>
            <a:off x="961949" y="5721401"/>
            <a:ext cx="38405" cy="875995"/>
          </a:xfrm>
          <a:prstGeom prst="rect">
            <a:avLst/>
          </a:prstGeom>
          <a:solidFill>
            <a:srgbClr val="AEFF82"/>
          </a:solidFill>
          <a:ln/>
        </p:spPr>
        <p:txBody>
          <a:bodyPr/>
          <a:lstStyle/>
          <a:p>
            <a:endParaRPr lang="en-IN"/>
          </a:p>
        </p:txBody>
      </p:sp>
      <p:pic>
        <p:nvPicPr>
          <p:cNvPr id="11" name="Image 3" descr="preencoded.png"/>
          <p:cNvPicPr>
            <a:picLocks noChangeAspect="1"/>
          </p:cNvPicPr>
          <p:nvPr/>
        </p:nvPicPr>
        <p:blipFill>
          <a:blip r:embed="rId4"/>
          <a:srcRect l="-2838" r="-2838"/>
          <a:stretch/>
        </p:blipFill>
        <p:spPr>
          <a:xfrm>
            <a:off x="3902659" y="7321601"/>
            <a:ext cx="123444" cy="133502"/>
          </a:xfrm>
          <a:prstGeom prst="rect">
            <a:avLst/>
          </a:prstGeom>
        </p:spPr>
      </p:pic>
      <p:sp>
        <p:nvSpPr>
          <p:cNvPr id="12" name="Text 6"/>
          <p:cNvSpPr txBox="1"/>
          <p:nvPr/>
        </p:nvSpPr>
        <p:spPr>
          <a:xfrm>
            <a:off x="571500" y="1429207"/>
            <a:ext cx="6229807" cy="638251"/>
          </a:xfrm>
          <a:prstGeom prst="rect">
            <a:avLst/>
          </a:prstGeom>
          <a:noFill/>
          <a:ln/>
        </p:spPr>
        <p:txBody>
          <a:bodyPr wrap="square" lIns="0" tIns="0" rIns="0" bIns="0" rtlCol="0" anchor="ctr"/>
          <a:lstStyle/>
          <a:p>
            <a:pPr marL="0" indent="0" algn="l">
              <a:buNone/>
            </a:pPr>
            <a:r>
              <a:rPr lang="en-US" sz="3600" b="1" dirty="0">
                <a:solidFill>
                  <a:srgbClr val="FFFFFF"/>
                </a:solidFill>
                <a:latin typeface="Poppins" pitchFamily="34" charset="0"/>
                <a:ea typeface="Poppins" pitchFamily="34" charset="-122"/>
                <a:cs typeface="Poppins" pitchFamily="34" charset="-120"/>
              </a:rPr>
              <a:t>Hackathon 2026</a:t>
            </a:r>
            <a:endParaRPr lang="en-US" sz="3600" dirty="0"/>
          </a:p>
        </p:txBody>
      </p:sp>
      <p:sp>
        <p:nvSpPr>
          <p:cNvPr id="13" name="Text 7"/>
          <p:cNvSpPr txBox="1"/>
          <p:nvPr/>
        </p:nvSpPr>
        <p:spPr>
          <a:xfrm>
            <a:off x="571500" y="2018995"/>
            <a:ext cx="4091026" cy="409651"/>
          </a:xfrm>
          <a:prstGeom prst="rect">
            <a:avLst/>
          </a:prstGeom>
          <a:noFill/>
          <a:ln/>
        </p:spPr>
        <p:txBody>
          <a:bodyPr wrap="square" lIns="0" tIns="0" rIns="0" bIns="0" rtlCol="0" anchor="ctr"/>
          <a:lstStyle/>
          <a:p>
            <a:pPr marL="0" indent="0" algn="l">
              <a:buNone/>
            </a:pPr>
            <a:r>
              <a:rPr lang="en-US" sz="2200" b="1" dirty="0">
                <a:solidFill>
                  <a:srgbClr val="AEFF82"/>
                </a:solidFill>
                <a:latin typeface="Poppins" pitchFamily="34" charset="0"/>
                <a:ea typeface="Poppins" pitchFamily="34" charset="-122"/>
                <a:cs typeface="Poppins" pitchFamily="34" charset="-120"/>
              </a:rPr>
              <a:t>Idea Submission Template</a:t>
            </a:r>
            <a:endParaRPr lang="en-US" sz="2200" dirty="0"/>
          </a:p>
        </p:txBody>
      </p:sp>
      <p:pic>
        <p:nvPicPr>
          <p:cNvPr id="14" name="Image 4" descr="preencoded.png"/>
          <p:cNvPicPr>
            <a:picLocks noChangeAspect="1"/>
          </p:cNvPicPr>
          <p:nvPr/>
        </p:nvPicPr>
        <p:blipFill>
          <a:blip r:embed="rId5"/>
          <a:srcRect/>
          <a:stretch/>
        </p:blipFill>
        <p:spPr>
          <a:xfrm>
            <a:off x="961949" y="3047695"/>
            <a:ext cx="228600" cy="228600"/>
          </a:xfrm>
          <a:prstGeom prst="rect">
            <a:avLst/>
          </a:prstGeom>
        </p:spPr>
      </p:pic>
      <p:sp>
        <p:nvSpPr>
          <p:cNvPr id="15" name="Text 8"/>
          <p:cNvSpPr txBox="1"/>
          <p:nvPr/>
        </p:nvSpPr>
        <p:spPr>
          <a:xfrm>
            <a:off x="1304849" y="3010205"/>
            <a:ext cx="6336922" cy="201167"/>
          </a:xfrm>
          <a:prstGeom prst="rect">
            <a:avLst/>
          </a:prstGeom>
          <a:noFill/>
          <a:ln/>
        </p:spPr>
        <p:txBody>
          <a:bodyPr wrap="square" lIns="0" tIns="0" rIns="0" bIns="0" rtlCol="0" anchor="ctr"/>
          <a:lstStyle/>
          <a:p>
            <a:pPr marL="0" indent="0" algn="l">
              <a:buNone/>
            </a:pPr>
            <a:r>
              <a:rPr lang="en-US" sz="1800" b="1" dirty="0">
                <a:solidFill>
                  <a:srgbClr val="FFFFFF"/>
                </a:solidFill>
                <a:latin typeface="Poppins" pitchFamily="34" charset="0"/>
                <a:ea typeface="Poppins" pitchFamily="34" charset="-122"/>
                <a:cs typeface="Poppins" pitchFamily="34" charset="-120"/>
              </a:rPr>
              <a:t>Instructions </a:t>
            </a:r>
            <a:r>
              <a:rPr lang="en-US" sz="1200" i="1" dirty="0">
                <a:solidFill>
                  <a:srgbClr val="FFFFFF"/>
                </a:solidFill>
                <a:latin typeface="Poppins" pitchFamily="34" charset="0"/>
                <a:ea typeface="Poppins" pitchFamily="34" charset="-122"/>
                <a:cs typeface="Poppins" pitchFamily="34" charset="-120"/>
              </a:rPr>
              <a:t>(Remove this slide while submitting)</a:t>
            </a:r>
            <a:endParaRPr lang="en-US" sz="1800" i="1" dirty="0"/>
          </a:p>
        </p:txBody>
      </p:sp>
      <p:sp>
        <p:nvSpPr>
          <p:cNvPr id="16" name="Text 9"/>
          <p:cNvSpPr txBox="1"/>
          <p:nvPr/>
        </p:nvSpPr>
        <p:spPr>
          <a:xfrm>
            <a:off x="1190549" y="5911596"/>
            <a:ext cx="1996135" cy="191110"/>
          </a:xfrm>
          <a:prstGeom prst="rect">
            <a:avLst/>
          </a:prstGeom>
          <a:noFill/>
          <a:ln/>
        </p:spPr>
        <p:txBody>
          <a:bodyPr wrap="square" lIns="0" tIns="0" rIns="0" bIns="0" rtlCol="0" anchor="ctr"/>
          <a:lstStyle/>
          <a:p>
            <a:pPr marL="0" indent="0" algn="l">
              <a:buNone/>
            </a:pPr>
            <a:r>
              <a:rPr lang="en-US" sz="1000" b="1" dirty="0">
                <a:solidFill>
                  <a:srgbClr val="D1D5DB"/>
                </a:solidFill>
                <a:latin typeface="Poppins" pitchFamily="34" charset="0"/>
                <a:ea typeface="Poppins" pitchFamily="34" charset="-122"/>
                <a:cs typeface="Poppins" pitchFamily="34" charset="-120"/>
              </a:rPr>
              <a:t>FILE NAMING CONVENTION</a:t>
            </a:r>
            <a:endParaRPr lang="en-US" sz="1000" dirty="0"/>
          </a:p>
        </p:txBody>
      </p:sp>
      <p:sp>
        <p:nvSpPr>
          <p:cNvPr id="17" name="Text 10"/>
          <p:cNvSpPr txBox="1"/>
          <p:nvPr/>
        </p:nvSpPr>
        <p:spPr>
          <a:xfrm>
            <a:off x="1190549" y="6159398"/>
            <a:ext cx="3581705" cy="219456"/>
          </a:xfrm>
          <a:prstGeom prst="rect">
            <a:avLst/>
          </a:prstGeom>
          <a:noFill/>
          <a:ln/>
        </p:spPr>
        <p:txBody>
          <a:bodyPr wrap="square" lIns="0" tIns="0" rIns="0" bIns="0" rtlCol="0" anchor="ctr"/>
          <a:lstStyle/>
          <a:p>
            <a:pPr marL="0" indent="0" algn="l">
              <a:buNone/>
            </a:pPr>
            <a:r>
              <a:rPr lang="en-US" sz="1500" b="1" dirty="0">
                <a:solidFill>
                  <a:srgbClr val="AEFF82"/>
                </a:solidFill>
                <a:latin typeface="ui-monospace" pitchFamily="34" charset="0"/>
                <a:ea typeface="ui-monospace" pitchFamily="34" charset="-122"/>
                <a:cs typeface="ui-monospace" pitchFamily="34" charset="-120"/>
              </a:rPr>
              <a:t>Team Name_PSNo (E.g. i4C_PS01)</a:t>
            </a:r>
            <a:endParaRPr lang="en-US" sz="1500" dirty="0"/>
          </a:p>
        </p:txBody>
      </p:sp>
      <p:sp>
        <p:nvSpPr>
          <p:cNvPr id="18" name="Shape 11"/>
          <p:cNvSpPr/>
          <p:nvPr/>
        </p:nvSpPr>
        <p:spPr>
          <a:xfrm>
            <a:off x="3674059" y="7216445"/>
            <a:ext cx="4848149" cy="342900"/>
          </a:xfrm>
          <a:prstGeom prst="roundRect">
            <a:avLst>
              <a:gd name="adj" fmla="val 266667"/>
            </a:avLst>
          </a:prstGeom>
          <a:solidFill>
            <a:srgbClr val="FFFFFF"/>
          </a:solidFill>
          <a:ln/>
          <a:effectLst>
            <a:outerShdw blurRad="12700" dist="12700" dir="16200000" algn="bl" rotWithShape="0">
              <a:srgbClr val="000000">
                <a:alpha val="75000"/>
              </a:srgbClr>
            </a:outerShdw>
          </a:effectLst>
        </p:spPr>
        <p:txBody>
          <a:bodyPr/>
          <a:lstStyle/>
          <a:p>
            <a:endParaRPr lang="en-IN"/>
          </a:p>
        </p:txBody>
      </p:sp>
      <p:sp>
        <p:nvSpPr>
          <p:cNvPr id="19" name="Text 12"/>
          <p:cNvSpPr txBox="1"/>
          <p:nvPr/>
        </p:nvSpPr>
        <p:spPr>
          <a:xfrm>
            <a:off x="4102913" y="7292340"/>
            <a:ext cx="4291279" cy="191110"/>
          </a:xfrm>
          <a:prstGeom prst="rect">
            <a:avLst/>
          </a:prstGeom>
          <a:noFill/>
          <a:ln/>
        </p:spPr>
        <p:txBody>
          <a:bodyPr wrap="square" lIns="0" tIns="0" rIns="0" bIns="0" rtlCol="0" anchor="ctr"/>
          <a:lstStyle/>
          <a:p>
            <a:pPr marL="0" indent="0" algn="ctr">
              <a:buNone/>
            </a:pPr>
            <a:r>
              <a:rPr lang="en-US" sz="1000" b="1" dirty="0">
                <a:solidFill>
                  <a:srgbClr val="DC2626"/>
                </a:solidFill>
                <a:latin typeface="Poppins" pitchFamily="34" charset="0"/>
                <a:ea typeface="Poppins" pitchFamily="34" charset="-122"/>
                <a:cs typeface="Poppins" pitchFamily="34" charset="-120"/>
              </a:rPr>
              <a:t>REMOVE THIS SLIDE FOR INSTRUCTIONS IN FINAL SUBMISSION</a:t>
            </a:r>
            <a:endParaRPr lang="en-US" sz="1000" dirty="0"/>
          </a:p>
        </p:txBody>
      </p:sp>
      <p:sp>
        <p:nvSpPr>
          <p:cNvPr id="20" name="Text 13"/>
          <p:cNvSpPr txBox="1"/>
          <p:nvPr/>
        </p:nvSpPr>
        <p:spPr>
          <a:xfrm>
            <a:off x="961948" y="4286354"/>
            <a:ext cx="10267798" cy="1344521"/>
          </a:xfrm>
          <a:prstGeom prst="rect">
            <a:avLst/>
          </a:prstGeom>
          <a:noFill/>
          <a:ln/>
        </p:spPr>
        <p:txBody>
          <a:bodyPr wrap="square" lIns="0" tIns="0" rIns="0" bIns="0" rtlCol="0" anchor="ctr"/>
          <a:lstStyle/>
          <a:p>
            <a:pPr marL="285750" indent="-285750" algn="l">
              <a:lnSpc>
                <a:spcPct val="150000"/>
              </a:lnSpc>
              <a:buFont typeface="Arial" panose="020B0604020202020204" pitchFamily="34" charset="0"/>
              <a:buChar char="•"/>
            </a:pPr>
            <a:r>
              <a:rPr lang="en-US" sz="1400" dirty="0">
                <a:solidFill>
                  <a:srgbClr val="E0E0E0"/>
                </a:solidFill>
                <a:latin typeface="Poppins" pitchFamily="34" charset="0"/>
                <a:ea typeface="Poppins" pitchFamily="34" charset="-122"/>
                <a:cs typeface="Poppins" pitchFamily="34" charset="-120"/>
              </a:rPr>
              <a:t>Prepare the solution document as per this template, feel free to modify layouts while keeping core content .</a:t>
            </a:r>
          </a:p>
          <a:p>
            <a:pPr marL="285750" indent="-285750" algn="l">
              <a:lnSpc>
                <a:spcPct val="150000"/>
              </a:lnSpc>
              <a:buFont typeface="Arial" panose="020B0604020202020204" pitchFamily="34" charset="0"/>
              <a:buChar char="•"/>
            </a:pPr>
            <a:r>
              <a:rPr lang="en-US" sz="1400" dirty="0">
                <a:solidFill>
                  <a:srgbClr val="E0E0E0"/>
                </a:solidFill>
                <a:latin typeface="Poppins" pitchFamily="34" charset="0"/>
                <a:ea typeface="Poppins" pitchFamily="34" charset="-122"/>
                <a:cs typeface="Poppins" pitchFamily="34" charset="-120"/>
              </a:rPr>
              <a:t>Kindly keep the maximum slides limit up to six (6-7). ( Including the title slide) </a:t>
            </a:r>
          </a:p>
          <a:p>
            <a:pPr marL="285750" indent="-285750" algn="l">
              <a:lnSpc>
                <a:spcPct val="150000"/>
              </a:lnSpc>
              <a:buFont typeface="Arial" panose="020B0604020202020204" pitchFamily="34" charset="0"/>
              <a:buChar char="•"/>
            </a:pPr>
            <a:r>
              <a:rPr lang="en-US" sz="1400" dirty="0">
                <a:solidFill>
                  <a:srgbClr val="E0E0E0"/>
                </a:solidFill>
                <a:latin typeface="Poppins" pitchFamily="34" charset="0"/>
                <a:ea typeface="Poppins" pitchFamily="34" charset="-122"/>
                <a:cs typeface="Poppins" pitchFamily="34" charset="-120"/>
              </a:rPr>
              <a:t>Try to avoid paragraphs and post your idea in points /diagrams / Infographics /pictures .</a:t>
            </a:r>
          </a:p>
          <a:p>
            <a:pPr marL="285750" indent="-285750" algn="l">
              <a:lnSpc>
                <a:spcPct val="150000"/>
              </a:lnSpc>
              <a:buFont typeface="Arial" panose="020B0604020202020204" pitchFamily="34" charset="0"/>
              <a:buChar char="•"/>
            </a:pPr>
            <a:r>
              <a:rPr lang="en-US" sz="1400" dirty="0">
                <a:solidFill>
                  <a:srgbClr val="E0E0E0"/>
                </a:solidFill>
                <a:latin typeface="Poppins" pitchFamily="34" charset="0"/>
                <a:ea typeface="Poppins" pitchFamily="34" charset="-122"/>
                <a:cs typeface="Poppins" pitchFamily="34" charset="-120"/>
              </a:rPr>
              <a:t>You can only use provided template for making the PPT without changing the idea details pointers (mentioned in previous slides).</a:t>
            </a:r>
          </a:p>
          <a:p>
            <a:pPr marL="285750" indent="-285750" algn="l">
              <a:lnSpc>
                <a:spcPct val="150000"/>
              </a:lnSpc>
              <a:buFont typeface="Arial" panose="020B0604020202020204" pitchFamily="34" charset="0"/>
              <a:buChar char="•"/>
            </a:pPr>
            <a:r>
              <a:rPr lang="en-US" sz="1400" dirty="0">
                <a:solidFill>
                  <a:srgbClr val="E0E0E0"/>
                </a:solidFill>
                <a:latin typeface="Poppins" pitchFamily="34" charset="0"/>
                <a:ea typeface="Poppins" pitchFamily="34" charset="-122"/>
                <a:cs typeface="Poppins" pitchFamily="34" charset="-120"/>
              </a:rPr>
              <a:t>You need to save the file in PDF and upload the same on portal. No PPT, Word Doc or any other format will be supported.</a:t>
            </a:r>
          </a:p>
          <a:p>
            <a:pPr marL="285750" indent="-285750" algn="l">
              <a:lnSpc>
                <a:spcPct val="150000"/>
              </a:lnSpc>
              <a:buFont typeface="Arial" panose="020B0604020202020204" pitchFamily="34" charset="0"/>
              <a:buChar char="•"/>
            </a:pPr>
            <a:endParaRPr lang="en-US" sz="1400" dirty="0">
              <a:solidFill>
                <a:srgbClr val="E0E0E0"/>
              </a:solidFill>
              <a:latin typeface="Poppins" pitchFamily="34" charset="0"/>
              <a:ea typeface="Poppins" pitchFamily="34" charset="-122"/>
              <a:cs typeface="Poppins" pitchFamily="34" charset="-120"/>
            </a:endParaRPr>
          </a:p>
          <a:p>
            <a:pPr marL="285750" indent="-285750" algn="l">
              <a:lnSpc>
                <a:spcPct val="150000"/>
              </a:lnSpc>
              <a:buFont typeface="Arial" panose="020B0604020202020204" pitchFamily="34" charset="0"/>
              <a:buChar char="•"/>
            </a:pPr>
            <a:endParaRPr lang="en-US" sz="1400" dirty="0">
              <a:solidFill>
                <a:srgbClr val="E0E0E0"/>
              </a:solidFill>
              <a:latin typeface="Poppins" pitchFamily="34" charset="0"/>
              <a:ea typeface="Poppins" pitchFamily="34" charset="-122"/>
              <a:cs typeface="Poppins" pitchFamily="34" charset="-120"/>
            </a:endParaRPr>
          </a:p>
          <a:p>
            <a:pPr marL="285750" indent="-285750" algn="l">
              <a:lnSpc>
                <a:spcPct val="150000"/>
              </a:lnSpc>
              <a:buFont typeface="Arial" panose="020B0604020202020204" pitchFamily="34" charset="0"/>
              <a:buChar char="•"/>
            </a:pPr>
            <a:endParaRPr lang="en-US" sz="1300" dirty="0"/>
          </a:p>
        </p:txBody>
      </p:sp>
      <p:pic>
        <p:nvPicPr>
          <p:cNvPr id="5" name="Picture 4">
            <a:extLst>
              <a:ext uri="{FF2B5EF4-FFF2-40B4-BE49-F238E27FC236}">
                <a16:creationId xmlns:a16="http://schemas.microsoft.com/office/drawing/2014/main" id="{8BB4234F-3583-BFF9-C279-17614D0CF45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514101" y="511607"/>
            <a:ext cx="9163491" cy="58643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00036"/>
          </a:solidFill>
          <a:ln/>
        </p:spPr>
        <p:txBody>
          <a:bodyPr/>
          <a:lstStyle/>
          <a:p>
            <a:endParaRPr lang="en-IN"/>
          </a:p>
        </p:txBody>
      </p:sp>
      <p:pic>
        <p:nvPicPr>
          <p:cNvPr id="3" name="Image 0" descr="preencoded.png"/>
          <p:cNvPicPr>
            <a:picLocks noChangeAspect="1"/>
          </p:cNvPicPr>
          <p:nvPr/>
        </p:nvPicPr>
        <p:blipFill>
          <a:blip r:embed="rId3">
            <a:alphaModFix amt="15000"/>
          </a:blip>
          <a:srcRect l="12327" r="12327"/>
          <a:stretch/>
        </p:blipFill>
        <p:spPr>
          <a:xfrm>
            <a:off x="0" y="0"/>
            <a:ext cx="12191695" cy="6858000"/>
          </a:xfrm>
          <a:prstGeom prst="rect">
            <a:avLst/>
          </a:prstGeom>
        </p:spPr>
      </p:pic>
      <p:sp>
        <p:nvSpPr>
          <p:cNvPr id="7" name="Shape 2"/>
          <p:cNvSpPr/>
          <p:nvPr/>
        </p:nvSpPr>
        <p:spPr>
          <a:xfrm>
            <a:off x="571500" y="1143000"/>
            <a:ext cx="47549" cy="276149"/>
          </a:xfrm>
          <a:prstGeom prst="rect">
            <a:avLst/>
          </a:prstGeom>
          <a:solidFill>
            <a:srgbClr val="88E555"/>
          </a:solidFill>
          <a:ln/>
        </p:spPr>
        <p:txBody>
          <a:bodyPr/>
          <a:lstStyle/>
          <a:p>
            <a:endParaRPr lang="en-IN"/>
          </a:p>
        </p:txBody>
      </p:sp>
      <p:sp>
        <p:nvSpPr>
          <p:cNvPr id="8" name="Shape 3"/>
          <p:cNvSpPr/>
          <p:nvPr/>
        </p:nvSpPr>
        <p:spPr>
          <a:xfrm>
            <a:off x="9182405" y="1170432"/>
            <a:ext cx="2438705" cy="362102"/>
          </a:xfrm>
          <a:prstGeom prst="roundRect">
            <a:avLst>
              <a:gd name="adj" fmla="val 26582"/>
            </a:avLst>
          </a:prstGeom>
          <a:solidFill>
            <a:srgbClr val="FFFFFF">
              <a:alpha val="10000"/>
            </a:srgbClr>
          </a:solidFill>
          <a:ln w="12700">
            <a:solidFill>
              <a:srgbClr val="34D399"/>
            </a:solidFill>
            <a:prstDash val="solid"/>
          </a:ln>
        </p:spPr>
        <p:txBody>
          <a:bodyPr/>
          <a:lstStyle/>
          <a:p>
            <a:endParaRPr lang="en-IN"/>
          </a:p>
        </p:txBody>
      </p:sp>
      <p:sp>
        <p:nvSpPr>
          <p:cNvPr id="9" name="Shape 4"/>
          <p:cNvSpPr/>
          <p:nvPr/>
        </p:nvSpPr>
        <p:spPr>
          <a:xfrm>
            <a:off x="571500" y="1712671"/>
            <a:ext cx="11048695" cy="1797711"/>
          </a:xfrm>
          <a:prstGeom prst="roundRect">
            <a:avLst>
              <a:gd name="adj" fmla="val 2216"/>
            </a:avLst>
          </a:prstGeom>
          <a:solidFill>
            <a:srgbClr val="273383">
              <a:alpha val="30000"/>
            </a:srgbClr>
          </a:solidFill>
          <a:ln w="12700">
            <a:solidFill>
              <a:srgbClr val="88E555">
                <a:alpha val="20000"/>
              </a:srgbClr>
            </a:solidFill>
            <a:prstDash val="solid"/>
          </a:ln>
          <a:effectLst>
            <a:outerShdw blurRad="190500" dist="101600" dir="5400000" algn="bl" rotWithShape="0">
              <a:srgbClr val="000000">
                <a:alpha val="20000"/>
              </a:srgbClr>
            </a:outerShdw>
          </a:effectLst>
        </p:spPr>
        <p:txBody>
          <a:bodyPr/>
          <a:lstStyle/>
          <a:p>
            <a:endParaRPr lang="en-IN"/>
          </a:p>
        </p:txBody>
      </p:sp>
      <p:sp>
        <p:nvSpPr>
          <p:cNvPr id="10" name="Shape 5"/>
          <p:cNvSpPr/>
          <p:nvPr/>
        </p:nvSpPr>
        <p:spPr>
          <a:xfrm>
            <a:off x="580644" y="1721815"/>
            <a:ext cx="1104595" cy="437998"/>
          </a:xfrm>
          <a:prstGeom prst="rect">
            <a:avLst/>
          </a:prstGeom>
          <a:solidFill>
            <a:srgbClr val="273383"/>
          </a:solidFill>
          <a:ln/>
        </p:spPr>
        <p:txBody>
          <a:bodyPr/>
          <a:lstStyle/>
          <a:p>
            <a:endParaRPr lang="en-IN"/>
          </a:p>
        </p:txBody>
      </p:sp>
      <p:sp>
        <p:nvSpPr>
          <p:cNvPr id="11" name="Shape 6"/>
          <p:cNvSpPr/>
          <p:nvPr/>
        </p:nvSpPr>
        <p:spPr>
          <a:xfrm>
            <a:off x="1684325" y="1721815"/>
            <a:ext cx="2210105" cy="437998"/>
          </a:xfrm>
          <a:prstGeom prst="rect">
            <a:avLst/>
          </a:prstGeom>
          <a:solidFill>
            <a:srgbClr val="273383"/>
          </a:solidFill>
          <a:ln/>
        </p:spPr>
        <p:txBody>
          <a:bodyPr/>
          <a:lstStyle/>
          <a:p>
            <a:endParaRPr lang="en-IN"/>
          </a:p>
        </p:txBody>
      </p:sp>
      <p:sp>
        <p:nvSpPr>
          <p:cNvPr id="12" name="Shape 7"/>
          <p:cNvSpPr/>
          <p:nvPr/>
        </p:nvSpPr>
        <p:spPr>
          <a:xfrm>
            <a:off x="3889858" y="1721815"/>
            <a:ext cx="4419295" cy="437998"/>
          </a:xfrm>
          <a:prstGeom prst="rect">
            <a:avLst/>
          </a:prstGeom>
          <a:solidFill>
            <a:srgbClr val="273383"/>
          </a:solidFill>
          <a:ln/>
        </p:spPr>
        <p:txBody>
          <a:bodyPr/>
          <a:lstStyle/>
          <a:p>
            <a:endParaRPr lang="en-IN"/>
          </a:p>
        </p:txBody>
      </p:sp>
      <p:sp>
        <p:nvSpPr>
          <p:cNvPr id="13" name="Shape 8"/>
          <p:cNvSpPr/>
          <p:nvPr/>
        </p:nvSpPr>
        <p:spPr>
          <a:xfrm>
            <a:off x="8301838" y="1721815"/>
            <a:ext cx="3314700" cy="437998"/>
          </a:xfrm>
          <a:prstGeom prst="rect">
            <a:avLst/>
          </a:prstGeom>
          <a:solidFill>
            <a:srgbClr val="273383"/>
          </a:solidFill>
          <a:ln/>
        </p:spPr>
        <p:txBody>
          <a:bodyPr/>
          <a:lstStyle/>
          <a:p>
            <a:endParaRPr lang="en-IN"/>
          </a:p>
        </p:txBody>
      </p:sp>
      <p:sp>
        <p:nvSpPr>
          <p:cNvPr id="14" name="Shape 9"/>
          <p:cNvSpPr/>
          <p:nvPr/>
        </p:nvSpPr>
        <p:spPr>
          <a:xfrm>
            <a:off x="580644" y="2604211"/>
            <a:ext cx="1104595" cy="9144"/>
          </a:xfrm>
          <a:prstGeom prst="rect">
            <a:avLst/>
          </a:prstGeom>
          <a:solidFill>
            <a:srgbClr val="FFFFFF">
              <a:alpha val="10000"/>
            </a:srgbClr>
          </a:solidFill>
          <a:ln/>
        </p:spPr>
        <p:txBody>
          <a:bodyPr/>
          <a:lstStyle/>
          <a:p>
            <a:endParaRPr lang="en-IN"/>
          </a:p>
        </p:txBody>
      </p:sp>
      <p:sp>
        <p:nvSpPr>
          <p:cNvPr id="15" name="Shape 10"/>
          <p:cNvSpPr/>
          <p:nvPr/>
        </p:nvSpPr>
        <p:spPr>
          <a:xfrm>
            <a:off x="1684325" y="2604211"/>
            <a:ext cx="2210105" cy="9144"/>
          </a:xfrm>
          <a:prstGeom prst="rect">
            <a:avLst/>
          </a:prstGeom>
          <a:solidFill>
            <a:srgbClr val="FFFFFF">
              <a:alpha val="10000"/>
            </a:srgbClr>
          </a:solidFill>
          <a:ln/>
        </p:spPr>
        <p:txBody>
          <a:bodyPr/>
          <a:lstStyle/>
          <a:p>
            <a:endParaRPr lang="en-IN"/>
          </a:p>
        </p:txBody>
      </p:sp>
      <p:sp>
        <p:nvSpPr>
          <p:cNvPr id="16" name="Shape 11"/>
          <p:cNvSpPr/>
          <p:nvPr/>
        </p:nvSpPr>
        <p:spPr>
          <a:xfrm>
            <a:off x="3889858" y="2604211"/>
            <a:ext cx="4419295" cy="9144"/>
          </a:xfrm>
          <a:prstGeom prst="rect">
            <a:avLst/>
          </a:prstGeom>
          <a:solidFill>
            <a:srgbClr val="FFFFFF">
              <a:alpha val="10000"/>
            </a:srgbClr>
          </a:solidFill>
          <a:ln/>
        </p:spPr>
        <p:txBody>
          <a:bodyPr/>
          <a:lstStyle/>
          <a:p>
            <a:endParaRPr lang="en-IN"/>
          </a:p>
        </p:txBody>
      </p:sp>
      <p:sp>
        <p:nvSpPr>
          <p:cNvPr id="17" name="Shape 12"/>
          <p:cNvSpPr/>
          <p:nvPr/>
        </p:nvSpPr>
        <p:spPr>
          <a:xfrm>
            <a:off x="8301838" y="2604211"/>
            <a:ext cx="3314700" cy="9144"/>
          </a:xfrm>
          <a:prstGeom prst="rect">
            <a:avLst/>
          </a:prstGeom>
          <a:solidFill>
            <a:srgbClr val="FFFFFF">
              <a:alpha val="10000"/>
            </a:srgbClr>
          </a:solidFill>
          <a:ln/>
        </p:spPr>
        <p:txBody>
          <a:bodyPr/>
          <a:lstStyle/>
          <a:p>
            <a:endParaRPr lang="en-IN"/>
          </a:p>
        </p:txBody>
      </p:sp>
      <p:sp>
        <p:nvSpPr>
          <p:cNvPr id="18" name="Shape 13"/>
          <p:cNvSpPr/>
          <p:nvPr/>
        </p:nvSpPr>
        <p:spPr>
          <a:xfrm>
            <a:off x="580644" y="2606954"/>
            <a:ext cx="11030407" cy="457200"/>
          </a:xfrm>
          <a:prstGeom prst="rect">
            <a:avLst/>
          </a:prstGeom>
          <a:solidFill>
            <a:srgbClr val="FFFFFF">
              <a:alpha val="3000"/>
            </a:srgbClr>
          </a:solidFill>
          <a:ln/>
        </p:spPr>
        <p:txBody>
          <a:bodyPr/>
          <a:lstStyle/>
          <a:p>
            <a:endParaRPr lang="en-IN"/>
          </a:p>
        </p:txBody>
      </p:sp>
      <p:sp>
        <p:nvSpPr>
          <p:cNvPr id="19" name="Shape 14"/>
          <p:cNvSpPr/>
          <p:nvPr/>
        </p:nvSpPr>
        <p:spPr>
          <a:xfrm>
            <a:off x="580644" y="3055010"/>
            <a:ext cx="1104595" cy="9144"/>
          </a:xfrm>
          <a:prstGeom prst="rect">
            <a:avLst/>
          </a:prstGeom>
          <a:solidFill>
            <a:srgbClr val="FFFFFF">
              <a:alpha val="10000"/>
            </a:srgbClr>
          </a:solidFill>
          <a:ln/>
        </p:spPr>
        <p:txBody>
          <a:bodyPr/>
          <a:lstStyle/>
          <a:p>
            <a:endParaRPr lang="en-IN"/>
          </a:p>
        </p:txBody>
      </p:sp>
      <p:sp>
        <p:nvSpPr>
          <p:cNvPr id="20" name="Shape 15"/>
          <p:cNvSpPr/>
          <p:nvPr/>
        </p:nvSpPr>
        <p:spPr>
          <a:xfrm>
            <a:off x="1684325" y="3055010"/>
            <a:ext cx="2210105" cy="9144"/>
          </a:xfrm>
          <a:prstGeom prst="rect">
            <a:avLst/>
          </a:prstGeom>
          <a:solidFill>
            <a:srgbClr val="FFFFFF">
              <a:alpha val="10000"/>
            </a:srgbClr>
          </a:solidFill>
          <a:ln/>
        </p:spPr>
        <p:txBody>
          <a:bodyPr/>
          <a:lstStyle/>
          <a:p>
            <a:endParaRPr lang="en-IN"/>
          </a:p>
        </p:txBody>
      </p:sp>
      <p:sp>
        <p:nvSpPr>
          <p:cNvPr id="21" name="Shape 16"/>
          <p:cNvSpPr/>
          <p:nvPr/>
        </p:nvSpPr>
        <p:spPr>
          <a:xfrm>
            <a:off x="3889858" y="3055010"/>
            <a:ext cx="4419295" cy="9144"/>
          </a:xfrm>
          <a:prstGeom prst="rect">
            <a:avLst/>
          </a:prstGeom>
          <a:solidFill>
            <a:srgbClr val="FFFFFF">
              <a:alpha val="10000"/>
            </a:srgbClr>
          </a:solidFill>
          <a:ln/>
        </p:spPr>
        <p:txBody>
          <a:bodyPr/>
          <a:lstStyle/>
          <a:p>
            <a:endParaRPr lang="en-IN"/>
          </a:p>
        </p:txBody>
      </p:sp>
      <p:sp>
        <p:nvSpPr>
          <p:cNvPr id="22" name="Shape 17"/>
          <p:cNvSpPr/>
          <p:nvPr/>
        </p:nvSpPr>
        <p:spPr>
          <a:xfrm>
            <a:off x="8301838" y="3055010"/>
            <a:ext cx="3314700" cy="9144"/>
          </a:xfrm>
          <a:prstGeom prst="rect">
            <a:avLst/>
          </a:prstGeom>
          <a:solidFill>
            <a:srgbClr val="FFFFFF">
              <a:alpha val="10000"/>
            </a:srgbClr>
          </a:solidFill>
          <a:ln/>
        </p:spPr>
        <p:txBody>
          <a:bodyPr/>
          <a:lstStyle/>
          <a:p>
            <a:endParaRPr lang="en-IN"/>
          </a:p>
        </p:txBody>
      </p:sp>
      <p:sp>
        <p:nvSpPr>
          <p:cNvPr id="23" name="Shape 18"/>
          <p:cNvSpPr/>
          <p:nvPr/>
        </p:nvSpPr>
        <p:spPr>
          <a:xfrm>
            <a:off x="580644" y="3510382"/>
            <a:ext cx="1104595" cy="9144"/>
          </a:xfrm>
          <a:prstGeom prst="rect">
            <a:avLst/>
          </a:prstGeom>
          <a:solidFill>
            <a:srgbClr val="FFFFFF">
              <a:alpha val="10000"/>
            </a:srgbClr>
          </a:solidFill>
          <a:ln/>
        </p:spPr>
        <p:txBody>
          <a:bodyPr/>
          <a:lstStyle/>
          <a:p>
            <a:endParaRPr lang="en-IN"/>
          </a:p>
        </p:txBody>
      </p:sp>
      <p:sp>
        <p:nvSpPr>
          <p:cNvPr id="24" name="Shape 19"/>
          <p:cNvSpPr/>
          <p:nvPr/>
        </p:nvSpPr>
        <p:spPr>
          <a:xfrm>
            <a:off x="1684325" y="3510382"/>
            <a:ext cx="2210105" cy="9144"/>
          </a:xfrm>
          <a:prstGeom prst="rect">
            <a:avLst/>
          </a:prstGeom>
          <a:solidFill>
            <a:srgbClr val="FFFFFF">
              <a:alpha val="10000"/>
            </a:srgbClr>
          </a:solidFill>
          <a:ln/>
        </p:spPr>
        <p:txBody>
          <a:bodyPr/>
          <a:lstStyle/>
          <a:p>
            <a:endParaRPr lang="en-IN"/>
          </a:p>
        </p:txBody>
      </p:sp>
      <p:sp>
        <p:nvSpPr>
          <p:cNvPr id="25" name="Shape 20"/>
          <p:cNvSpPr/>
          <p:nvPr/>
        </p:nvSpPr>
        <p:spPr>
          <a:xfrm>
            <a:off x="3889858" y="3510382"/>
            <a:ext cx="4419295" cy="9144"/>
          </a:xfrm>
          <a:prstGeom prst="rect">
            <a:avLst/>
          </a:prstGeom>
          <a:solidFill>
            <a:srgbClr val="FFFFFF">
              <a:alpha val="10000"/>
            </a:srgbClr>
          </a:solidFill>
          <a:ln/>
        </p:spPr>
        <p:txBody>
          <a:bodyPr/>
          <a:lstStyle/>
          <a:p>
            <a:endParaRPr lang="en-IN"/>
          </a:p>
        </p:txBody>
      </p:sp>
      <p:sp>
        <p:nvSpPr>
          <p:cNvPr id="26" name="Shape 21"/>
          <p:cNvSpPr/>
          <p:nvPr/>
        </p:nvSpPr>
        <p:spPr>
          <a:xfrm>
            <a:off x="8301838" y="3510382"/>
            <a:ext cx="3314700" cy="9144"/>
          </a:xfrm>
          <a:prstGeom prst="rect">
            <a:avLst/>
          </a:prstGeom>
          <a:solidFill>
            <a:srgbClr val="FFFFFF">
              <a:alpha val="10000"/>
            </a:srgbClr>
          </a:solidFill>
          <a:ln/>
        </p:spPr>
        <p:txBody>
          <a:bodyPr/>
          <a:lstStyle/>
          <a:p>
            <a:endParaRPr lang="en-IN"/>
          </a:p>
        </p:txBody>
      </p:sp>
      <p:pic>
        <p:nvPicPr>
          <p:cNvPr id="28" name="Image 3" descr="preencoded.png"/>
          <p:cNvPicPr>
            <a:picLocks noChangeAspect="1"/>
          </p:cNvPicPr>
          <p:nvPr/>
        </p:nvPicPr>
        <p:blipFill>
          <a:blip r:embed="rId4"/>
          <a:srcRect/>
          <a:stretch/>
        </p:blipFill>
        <p:spPr>
          <a:xfrm>
            <a:off x="571500" y="4151376"/>
            <a:ext cx="133502" cy="133502"/>
          </a:xfrm>
          <a:prstGeom prst="rect">
            <a:avLst/>
          </a:prstGeom>
        </p:spPr>
      </p:pic>
      <p:sp>
        <p:nvSpPr>
          <p:cNvPr id="29" name="Text 23"/>
          <p:cNvSpPr txBox="1"/>
          <p:nvPr/>
        </p:nvSpPr>
        <p:spPr>
          <a:xfrm>
            <a:off x="780898" y="4120286"/>
            <a:ext cx="5574182" cy="200254"/>
          </a:xfrm>
          <a:prstGeom prst="rect">
            <a:avLst/>
          </a:prstGeom>
          <a:noFill/>
          <a:ln/>
        </p:spPr>
        <p:txBody>
          <a:bodyPr wrap="square" lIns="0" tIns="0" rIns="0" bIns="0" rtlCol="0" anchor="ctr"/>
          <a:lstStyle/>
          <a:p>
            <a:pPr marL="0" indent="0" algn="l">
              <a:buNone/>
            </a:pPr>
            <a:r>
              <a:rPr lang="en-US" sz="1000" b="1" i="1" dirty="0">
                <a:solidFill>
                  <a:srgbClr val="AAAAAA"/>
                </a:solidFill>
                <a:latin typeface="Poppins" pitchFamily="34" charset="0"/>
                <a:ea typeface="Poppins" pitchFamily="34" charset="-122"/>
                <a:cs typeface="Poppins" pitchFamily="34" charset="-120"/>
              </a:rPr>
              <a:t>A team can have up to 4 members including the team leader. Add rows if necessary.</a:t>
            </a:r>
            <a:endParaRPr lang="en-US" sz="1000" b="1" dirty="0"/>
          </a:p>
        </p:txBody>
      </p:sp>
      <p:sp>
        <p:nvSpPr>
          <p:cNvPr id="30" name="Shape 24"/>
          <p:cNvSpPr/>
          <p:nvPr/>
        </p:nvSpPr>
        <p:spPr>
          <a:xfrm>
            <a:off x="571500" y="4543654"/>
            <a:ext cx="11048695" cy="2029054"/>
          </a:xfrm>
          <a:prstGeom prst="roundRect">
            <a:avLst>
              <a:gd name="adj" fmla="val 2539"/>
            </a:avLst>
          </a:prstGeom>
          <a:solidFill>
            <a:srgbClr val="FFFFFF">
              <a:alpha val="5000"/>
            </a:srgbClr>
          </a:solidFill>
          <a:ln w="12700">
            <a:solidFill>
              <a:srgbClr val="1E3A8A"/>
            </a:solidFill>
            <a:prstDash val="solid"/>
          </a:ln>
        </p:spPr>
        <p:txBody>
          <a:bodyPr/>
          <a:lstStyle/>
          <a:p>
            <a:endParaRPr lang="en-IN"/>
          </a:p>
        </p:txBody>
      </p:sp>
      <p:sp>
        <p:nvSpPr>
          <p:cNvPr id="31" name="Shape 25"/>
          <p:cNvSpPr/>
          <p:nvPr/>
        </p:nvSpPr>
        <p:spPr>
          <a:xfrm>
            <a:off x="771754" y="5048402"/>
            <a:ext cx="10649102" cy="437998"/>
          </a:xfrm>
          <a:prstGeom prst="roundRect">
            <a:avLst>
              <a:gd name="adj" fmla="val 27231"/>
            </a:avLst>
          </a:prstGeom>
          <a:solidFill>
            <a:srgbClr val="FFFFFF">
              <a:alpha val="10000"/>
            </a:srgbClr>
          </a:solidFill>
          <a:ln w="12700">
            <a:solidFill>
              <a:srgbClr val="AEFF82">
                <a:alpha val="30000"/>
              </a:srgbClr>
            </a:solidFill>
            <a:prstDash val="solid"/>
          </a:ln>
        </p:spPr>
        <p:txBody>
          <a:bodyPr/>
          <a:lstStyle/>
          <a:p>
            <a:endParaRPr lang="en-IN"/>
          </a:p>
        </p:txBody>
      </p:sp>
      <p:sp>
        <p:nvSpPr>
          <p:cNvPr id="32" name="Shape 26"/>
          <p:cNvSpPr/>
          <p:nvPr/>
        </p:nvSpPr>
        <p:spPr>
          <a:xfrm>
            <a:off x="771754" y="5934456"/>
            <a:ext cx="5229454" cy="437998"/>
          </a:xfrm>
          <a:prstGeom prst="roundRect">
            <a:avLst>
              <a:gd name="adj" fmla="val 27231"/>
            </a:avLst>
          </a:prstGeom>
          <a:solidFill>
            <a:srgbClr val="FFFFFF">
              <a:alpha val="10000"/>
            </a:srgbClr>
          </a:solidFill>
          <a:ln w="12700">
            <a:solidFill>
              <a:srgbClr val="AEFF82">
                <a:alpha val="30000"/>
              </a:srgbClr>
            </a:solidFill>
            <a:prstDash val="solid"/>
          </a:ln>
        </p:spPr>
        <p:txBody>
          <a:bodyPr/>
          <a:lstStyle/>
          <a:p>
            <a:endParaRPr lang="en-IN" dirty="0"/>
          </a:p>
        </p:txBody>
      </p:sp>
      <p:sp>
        <p:nvSpPr>
          <p:cNvPr id="33" name="Shape 27"/>
          <p:cNvSpPr/>
          <p:nvPr/>
        </p:nvSpPr>
        <p:spPr>
          <a:xfrm>
            <a:off x="6191402" y="5934456"/>
            <a:ext cx="5229454" cy="437998"/>
          </a:xfrm>
          <a:prstGeom prst="roundRect">
            <a:avLst>
              <a:gd name="adj" fmla="val 27231"/>
            </a:avLst>
          </a:prstGeom>
          <a:solidFill>
            <a:srgbClr val="FFFFFF">
              <a:alpha val="10000"/>
            </a:srgbClr>
          </a:solidFill>
          <a:ln w="12700">
            <a:solidFill>
              <a:srgbClr val="AEFF82">
                <a:alpha val="30000"/>
              </a:srgbClr>
            </a:solidFill>
            <a:prstDash val="solid"/>
          </a:ln>
        </p:spPr>
        <p:txBody>
          <a:bodyPr/>
          <a:lstStyle/>
          <a:p>
            <a:endParaRPr lang="en-IN"/>
          </a:p>
        </p:txBody>
      </p:sp>
      <p:sp>
        <p:nvSpPr>
          <p:cNvPr id="34" name="Text 28"/>
          <p:cNvSpPr txBox="1"/>
          <p:nvPr/>
        </p:nvSpPr>
        <p:spPr>
          <a:xfrm>
            <a:off x="761695" y="1086307"/>
            <a:ext cx="2053742" cy="381305"/>
          </a:xfrm>
          <a:prstGeom prst="rect">
            <a:avLst/>
          </a:prstGeom>
          <a:noFill/>
          <a:ln/>
        </p:spPr>
        <p:txBody>
          <a:bodyPr wrap="square" lIns="0" tIns="0" rIns="0" bIns="0" rtlCol="0" anchor="ctr"/>
          <a:lstStyle/>
          <a:p>
            <a:pPr marL="0" indent="0" algn="l">
              <a:buNone/>
            </a:pPr>
            <a:r>
              <a:rPr lang="en-US" sz="2100" b="1" dirty="0">
                <a:solidFill>
                  <a:srgbClr val="FFFFFF"/>
                </a:solidFill>
                <a:latin typeface="Poppins" pitchFamily="34" charset="0"/>
                <a:ea typeface="Poppins" pitchFamily="34" charset="-122"/>
                <a:cs typeface="Poppins" pitchFamily="34" charset="-120"/>
              </a:rPr>
              <a:t>Team Details</a:t>
            </a:r>
            <a:endParaRPr lang="en-US" sz="2100" dirty="0"/>
          </a:p>
        </p:txBody>
      </p:sp>
      <p:sp>
        <p:nvSpPr>
          <p:cNvPr id="35" name="Text 29"/>
          <p:cNvSpPr txBox="1"/>
          <p:nvPr/>
        </p:nvSpPr>
        <p:spPr>
          <a:xfrm>
            <a:off x="8076895" y="1237183"/>
            <a:ext cx="1105510" cy="219456"/>
          </a:xfrm>
          <a:prstGeom prst="rect">
            <a:avLst/>
          </a:prstGeom>
          <a:noFill/>
          <a:ln/>
        </p:spPr>
        <p:txBody>
          <a:bodyPr wrap="square" lIns="0" tIns="0" rIns="0" bIns="0" rtlCol="0" anchor="ctr"/>
          <a:lstStyle/>
          <a:p>
            <a:pPr marL="0" indent="0" algn="l">
              <a:buNone/>
            </a:pPr>
            <a:r>
              <a:rPr lang="en-US" sz="1200" b="1" dirty="0">
                <a:solidFill>
                  <a:srgbClr val="AEFF82"/>
                </a:solidFill>
                <a:latin typeface="Poppins" pitchFamily="34" charset="0"/>
                <a:ea typeface="Poppins" pitchFamily="34" charset="-122"/>
                <a:cs typeface="Poppins" pitchFamily="34" charset="-120"/>
              </a:rPr>
              <a:t>Team Name:</a:t>
            </a:r>
            <a:endParaRPr lang="en-US" sz="1200" dirty="0"/>
          </a:p>
        </p:txBody>
      </p:sp>
      <p:sp>
        <p:nvSpPr>
          <p:cNvPr id="36" name="Text 30"/>
          <p:cNvSpPr txBox="1"/>
          <p:nvPr/>
        </p:nvSpPr>
        <p:spPr>
          <a:xfrm>
            <a:off x="771754" y="1836115"/>
            <a:ext cx="598932" cy="191110"/>
          </a:xfrm>
          <a:prstGeom prst="rect">
            <a:avLst/>
          </a:prstGeom>
          <a:noFill/>
          <a:ln/>
        </p:spPr>
        <p:txBody>
          <a:bodyPr wrap="square" lIns="0" tIns="0" rIns="0" bIns="0" rtlCol="0" anchor="ctr"/>
          <a:lstStyle/>
          <a:p>
            <a:pPr marL="0" indent="0" algn="l">
              <a:buNone/>
            </a:pPr>
            <a:r>
              <a:rPr lang="en-US" sz="1000" b="1" dirty="0">
                <a:solidFill>
                  <a:srgbClr val="AEFF82"/>
                </a:solidFill>
                <a:latin typeface="Poppins" pitchFamily="34" charset="0"/>
                <a:ea typeface="Poppins" pitchFamily="34" charset="-122"/>
                <a:cs typeface="Poppins" pitchFamily="34" charset="-120"/>
              </a:rPr>
              <a:t>SR. NO</a:t>
            </a:r>
            <a:endParaRPr lang="en-US" sz="1000" dirty="0"/>
          </a:p>
        </p:txBody>
      </p:sp>
      <p:sp>
        <p:nvSpPr>
          <p:cNvPr id="37" name="Text 31"/>
          <p:cNvSpPr txBox="1"/>
          <p:nvPr/>
        </p:nvSpPr>
        <p:spPr>
          <a:xfrm>
            <a:off x="1874520" y="1836115"/>
            <a:ext cx="465430" cy="191110"/>
          </a:xfrm>
          <a:prstGeom prst="rect">
            <a:avLst/>
          </a:prstGeom>
          <a:noFill/>
          <a:ln/>
        </p:spPr>
        <p:txBody>
          <a:bodyPr wrap="square" lIns="0" tIns="0" rIns="0" bIns="0" rtlCol="0" anchor="ctr"/>
          <a:lstStyle/>
          <a:p>
            <a:pPr marL="0" indent="0" algn="l">
              <a:buNone/>
            </a:pPr>
            <a:r>
              <a:rPr lang="en-US" sz="1000" b="1" dirty="0">
                <a:solidFill>
                  <a:srgbClr val="AEFF82"/>
                </a:solidFill>
                <a:latin typeface="Poppins" pitchFamily="34" charset="0"/>
                <a:ea typeface="Poppins" pitchFamily="34" charset="-122"/>
                <a:cs typeface="Poppins" pitchFamily="34" charset="-120"/>
              </a:rPr>
              <a:t>ROLE</a:t>
            </a:r>
            <a:endParaRPr lang="en-US" sz="1000" dirty="0"/>
          </a:p>
        </p:txBody>
      </p:sp>
      <p:sp>
        <p:nvSpPr>
          <p:cNvPr id="38" name="Text 32"/>
          <p:cNvSpPr txBox="1"/>
          <p:nvPr/>
        </p:nvSpPr>
        <p:spPr>
          <a:xfrm>
            <a:off x="4080053" y="1836115"/>
            <a:ext cx="532181" cy="191110"/>
          </a:xfrm>
          <a:prstGeom prst="rect">
            <a:avLst/>
          </a:prstGeom>
          <a:noFill/>
          <a:ln/>
        </p:spPr>
        <p:txBody>
          <a:bodyPr wrap="square" lIns="0" tIns="0" rIns="0" bIns="0" rtlCol="0" anchor="ctr"/>
          <a:lstStyle/>
          <a:p>
            <a:pPr marL="0" indent="0" algn="l">
              <a:buNone/>
            </a:pPr>
            <a:r>
              <a:rPr lang="en-US" sz="1000" b="1" dirty="0">
                <a:solidFill>
                  <a:srgbClr val="AEFF82"/>
                </a:solidFill>
                <a:latin typeface="Poppins" pitchFamily="34" charset="0"/>
                <a:ea typeface="Poppins" pitchFamily="34" charset="-122"/>
                <a:cs typeface="Poppins" pitchFamily="34" charset="-120"/>
              </a:rPr>
              <a:t>NAME</a:t>
            </a:r>
            <a:endParaRPr lang="en-US" sz="1000" dirty="0"/>
          </a:p>
        </p:txBody>
      </p:sp>
      <p:sp>
        <p:nvSpPr>
          <p:cNvPr id="39" name="Text 33"/>
          <p:cNvSpPr txBox="1"/>
          <p:nvPr/>
        </p:nvSpPr>
        <p:spPr>
          <a:xfrm>
            <a:off x="8492033" y="1836115"/>
            <a:ext cx="1313078" cy="191110"/>
          </a:xfrm>
          <a:prstGeom prst="rect">
            <a:avLst/>
          </a:prstGeom>
          <a:noFill/>
          <a:ln/>
        </p:spPr>
        <p:txBody>
          <a:bodyPr wrap="square" lIns="0" tIns="0" rIns="0" bIns="0" rtlCol="0" anchor="ctr"/>
          <a:lstStyle/>
          <a:p>
            <a:pPr marL="0" indent="0" algn="l">
              <a:buNone/>
            </a:pPr>
            <a:r>
              <a:rPr lang="en-US" sz="1000" b="1" dirty="0">
                <a:solidFill>
                  <a:srgbClr val="AEFF82"/>
                </a:solidFill>
                <a:latin typeface="Poppins" pitchFamily="34" charset="0"/>
                <a:ea typeface="Poppins" pitchFamily="34" charset="-122"/>
                <a:cs typeface="Poppins" pitchFamily="34" charset="-120"/>
              </a:rPr>
              <a:t>ACADEMIC YEAR</a:t>
            </a:r>
            <a:endParaRPr lang="en-US" sz="1000" dirty="0"/>
          </a:p>
        </p:txBody>
      </p:sp>
      <p:sp>
        <p:nvSpPr>
          <p:cNvPr id="40" name="Text 34"/>
          <p:cNvSpPr txBox="1"/>
          <p:nvPr/>
        </p:nvSpPr>
        <p:spPr>
          <a:xfrm>
            <a:off x="771754" y="2270455"/>
            <a:ext cx="156362" cy="200254"/>
          </a:xfrm>
          <a:prstGeom prst="rect">
            <a:avLst/>
          </a:prstGeom>
          <a:noFill/>
          <a:ln/>
        </p:spPr>
        <p:txBody>
          <a:bodyPr wrap="square" lIns="0" tIns="0" rIns="0" bIns="0" rtlCol="0" anchor="ctr"/>
          <a:lstStyle/>
          <a:p>
            <a:pPr marL="0" indent="0" algn="l">
              <a:buNone/>
            </a:pPr>
            <a:r>
              <a:rPr lang="en-US" sz="1100" dirty="0">
                <a:solidFill>
                  <a:srgbClr val="E0E0E0"/>
                </a:solidFill>
                <a:latin typeface="Poppins" pitchFamily="34" charset="0"/>
                <a:ea typeface="Poppins" pitchFamily="34" charset="-122"/>
                <a:cs typeface="Poppins" pitchFamily="34" charset="-120"/>
              </a:rPr>
              <a:t>1</a:t>
            </a:r>
            <a:endParaRPr lang="en-US" sz="1100" dirty="0"/>
          </a:p>
        </p:txBody>
      </p:sp>
      <p:sp>
        <p:nvSpPr>
          <p:cNvPr id="41" name="Text 35"/>
          <p:cNvSpPr txBox="1"/>
          <p:nvPr/>
        </p:nvSpPr>
        <p:spPr>
          <a:xfrm>
            <a:off x="1874520" y="2270455"/>
            <a:ext cx="1070762" cy="200254"/>
          </a:xfrm>
          <a:prstGeom prst="rect">
            <a:avLst/>
          </a:prstGeom>
          <a:noFill/>
          <a:ln/>
        </p:spPr>
        <p:txBody>
          <a:bodyPr wrap="square" lIns="0" tIns="0" rIns="0" bIns="0" rtlCol="0" anchor="ctr"/>
          <a:lstStyle/>
          <a:p>
            <a:pPr marL="0" indent="0" algn="l">
              <a:buNone/>
            </a:pPr>
            <a:r>
              <a:rPr lang="en-US" sz="1100" b="1" dirty="0">
                <a:solidFill>
                  <a:srgbClr val="E0E0E0"/>
                </a:solidFill>
                <a:latin typeface="Poppins" pitchFamily="34" charset="0"/>
                <a:ea typeface="Poppins" pitchFamily="34" charset="-122"/>
                <a:cs typeface="Poppins" pitchFamily="34" charset="-120"/>
              </a:rPr>
              <a:t>Team Leader</a:t>
            </a:r>
            <a:endParaRPr lang="en-US" sz="1100" dirty="0"/>
          </a:p>
        </p:txBody>
      </p:sp>
      <p:sp>
        <p:nvSpPr>
          <p:cNvPr id="42" name="Text 36"/>
          <p:cNvSpPr txBox="1"/>
          <p:nvPr/>
        </p:nvSpPr>
        <p:spPr>
          <a:xfrm>
            <a:off x="771754" y="2725826"/>
            <a:ext cx="194767" cy="200254"/>
          </a:xfrm>
          <a:prstGeom prst="rect">
            <a:avLst/>
          </a:prstGeom>
          <a:noFill/>
          <a:ln/>
        </p:spPr>
        <p:txBody>
          <a:bodyPr wrap="square" lIns="0" tIns="0" rIns="0" bIns="0" rtlCol="0" anchor="ctr"/>
          <a:lstStyle/>
          <a:p>
            <a:pPr marL="0" indent="0" algn="l">
              <a:buNone/>
            </a:pPr>
            <a:r>
              <a:rPr lang="en-US" sz="1100" dirty="0">
                <a:solidFill>
                  <a:srgbClr val="E0E0E0"/>
                </a:solidFill>
                <a:latin typeface="Poppins" pitchFamily="34" charset="0"/>
                <a:ea typeface="Poppins" pitchFamily="34" charset="-122"/>
                <a:cs typeface="Poppins" pitchFamily="34" charset="-120"/>
              </a:rPr>
              <a:t>2</a:t>
            </a:r>
            <a:endParaRPr lang="en-US" sz="1100" dirty="0"/>
          </a:p>
        </p:txBody>
      </p:sp>
      <p:sp>
        <p:nvSpPr>
          <p:cNvPr id="43" name="Text 37"/>
          <p:cNvSpPr txBox="1"/>
          <p:nvPr/>
        </p:nvSpPr>
        <p:spPr>
          <a:xfrm>
            <a:off x="1874520" y="2725826"/>
            <a:ext cx="804672" cy="200254"/>
          </a:xfrm>
          <a:prstGeom prst="rect">
            <a:avLst/>
          </a:prstGeom>
          <a:noFill/>
          <a:ln/>
        </p:spPr>
        <p:txBody>
          <a:bodyPr wrap="square" lIns="0" tIns="0" rIns="0" bIns="0" rtlCol="0" anchor="ctr"/>
          <a:lstStyle/>
          <a:p>
            <a:pPr marL="0" indent="0" algn="l">
              <a:buNone/>
            </a:pPr>
            <a:r>
              <a:rPr lang="en-US" sz="1100" dirty="0">
                <a:solidFill>
                  <a:srgbClr val="E0E0E0"/>
                </a:solidFill>
                <a:latin typeface="Poppins" pitchFamily="34" charset="0"/>
                <a:ea typeface="Poppins" pitchFamily="34" charset="-122"/>
                <a:cs typeface="Poppins" pitchFamily="34" charset="-120"/>
              </a:rPr>
              <a:t>Member 1</a:t>
            </a:r>
            <a:endParaRPr lang="en-US" sz="1100" dirty="0"/>
          </a:p>
        </p:txBody>
      </p:sp>
      <p:sp>
        <p:nvSpPr>
          <p:cNvPr id="44" name="Text 38"/>
          <p:cNvSpPr txBox="1"/>
          <p:nvPr/>
        </p:nvSpPr>
        <p:spPr>
          <a:xfrm>
            <a:off x="771754" y="3181198"/>
            <a:ext cx="194767" cy="200254"/>
          </a:xfrm>
          <a:prstGeom prst="rect">
            <a:avLst/>
          </a:prstGeom>
          <a:noFill/>
          <a:ln/>
        </p:spPr>
        <p:txBody>
          <a:bodyPr wrap="square" lIns="0" tIns="0" rIns="0" bIns="0" rtlCol="0" anchor="ctr"/>
          <a:lstStyle/>
          <a:p>
            <a:pPr marL="0" indent="0" algn="l">
              <a:buNone/>
            </a:pPr>
            <a:r>
              <a:rPr lang="en-US" sz="1100" dirty="0">
                <a:solidFill>
                  <a:srgbClr val="E0E0E0"/>
                </a:solidFill>
                <a:latin typeface="Poppins" pitchFamily="34" charset="0"/>
                <a:ea typeface="Poppins" pitchFamily="34" charset="-122"/>
                <a:cs typeface="Poppins" pitchFamily="34" charset="-120"/>
              </a:rPr>
              <a:t>3</a:t>
            </a:r>
            <a:endParaRPr lang="en-US" sz="1100" dirty="0"/>
          </a:p>
        </p:txBody>
      </p:sp>
      <p:sp>
        <p:nvSpPr>
          <p:cNvPr id="45" name="Text 39"/>
          <p:cNvSpPr txBox="1"/>
          <p:nvPr/>
        </p:nvSpPr>
        <p:spPr>
          <a:xfrm>
            <a:off x="1874520" y="3181198"/>
            <a:ext cx="842162" cy="200254"/>
          </a:xfrm>
          <a:prstGeom prst="rect">
            <a:avLst/>
          </a:prstGeom>
          <a:noFill/>
          <a:ln/>
        </p:spPr>
        <p:txBody>
          <a:bodyPr wrap="square" lIns="0" tIns="0" rIns="0" bIns="0" rtlCol="0" anchor="ctr"/>
          <a:lstStyle/>
          <a:p>
            <a:pPr marL="0" indent="0" algn="l">
              <a:buNone/>
            </a:pPr>
            <a:r>
              <a:rPr lang="en-US" sz="1100" dirty="0">
                <a:solidFill>
                  <a:srgbClr val="E0E0E0"/>
                </a:solidFill>
                <a:latin typeface="Poppins" pitchFamily="34" charset="0"/>
                <a:ea typeface="Poppins" pitchFamily="34" charset="-122"/>
                <a:cs typeface="Poppins" pitchFamily="34" charset="-120"/>
              </a:rPr>
              <a:t>Member 2</a:t>
            </a:r>
            <a:endParaRPr lang="en-US" sz="1100" dirty="0"/>
          </a:p>
        </p:txBody>
      </p:sp>
      <p:sp>
        <p:nvSpPr>
          <p:cNvPr id="46" name="Text 40"/>
          <p:cNvSpPr txBox="1"/>
          <p:nvPr/>
        </p:nvSpPr>
        <p:spPr>
          <a:xfrm>
            <a:off x="771754" y="3636569"/>
            <a:ext cx="203911" cy="200254"/>
          </a:xfrm>
          <a:prstGeom prst="rect">
            <a:avLst/>
          </a:prstGeom>
          <a:noFill/>
          <a:ln/>
        </p:spPr>
        <p:txBody>
          <a:bodyPr wrap="square" lIns="0" tIns="0" rIns="0" bIns="0" rtlCol="0" anchor="ctr"/>
          <a:lstStyle/>
          <a:p>
            <a:pPr marL="0" indent="0" algn="l">
              <a:buNone/>
            </a:pPr>
            <a:endParaRPr lang="en-US" sz="1100" dirty="0"/>
          </a:p>
        </p:txBody>
      </p:sp>
      <p:pic>
        <p:nvPicPr>
          <p:cNvPr id="48" name="Image 4" descr="preencoded.png"/>
          <p:cNvPicPr>
            <a:picLocks noChangeAspect="1"/>
          </p:cNvPicPr>
          <p:nvPr/>
        </p:nvPicPr>
        <p:blipFill>
          <a:blip r:embed="rId5"/>
          <a:srcRect l="-2994" r="-2994"/>
          <a:stretch/>
        </p:blipFill>
        <p:spPr>
          <a:xfrm>
            <a:off x="771754" y="4772254"/>
            <a:ext cx="161849" cy="152705"/>
          </a:xfrm>
          <a:prstGeom prst="rect">
            <a:avLst/>
          </a:prstGeom>
        </p:spPr>
      </p:pic>
      <p:sp>
        <p:nvSpPr>
          <p:cNvPr id="49" name="Text 42"/>
          <p:cNvSpPr txBox="1"/>
          <p:nvPr/>
        </p:nvSpPr>
        <p:spPr>
          <a:xfrm>
            <a:off x="1009498" y="4743907"/>
            <a:ext cx="1343254" cy="219456"/>
          </a:xfrm>
          <a:prstGeom prst="rect">
            <a:avLst/>
          </a:prstGeom>
          <a:noFill/>
          <a:ln/>
        </p:spPr>
        <p:txBody>
          <a:bodyPr wrap="square" lIns="0" tIns="0" rIns="0" bIns="0" rtlCol="0" anchor="ctr"/>
          <a:lstStyle/>
          <a:p>
            <a:pPr marL="0" indent="0" algn="l">
              <a:buNone/>
            </a:pPr>
            <a:r>
              <a:rPr lang="en-US" sz="1200" b="1" dirty="0">
                <a:solidFill>
                  <a:srgbClr val="AEFF82"/>
                </a:solidFill>
                <a:latin typeface="Poppins" pitchFamily="34" charset="0"/>
                <a:ea typeface="Poppins" pitchFamily="34" charset="-122"/>
                <a:cs typeface="Poppins" pitchFamily="34" charset="-120"/>
              </a:rPr>
              <a:t>COLLEGE NAME</a:t>
            </a:r>
            <a:endParaRPr lang="en-US" sz="1200" dirty="0"/>
          </a:p>
        </p:txBody>
      </p:sp>
      <p:pic>
        <p:nvPicPr>
          <p:cNvPr id="50" name="Image 5" descr="preencoded.png"/>
          <p:cNvPicPr>
            <a:picLocks noChangeAspect="1"/>
          </p:cNvPicPr>
          <p:nvPr/>
        </p:nvPicPr>
        <p:blipFill>
          <a:blip r:embed="rId6"/>
          <a:srcRect l="-2994" r="-2994"/>
          <a:stretch/>
        </p:blipFill>
        <p:spPr>
          <a:xfrm>
            <a:off x="771754" y="5658307"/>
            <a:ext cx="161849" cy="152705"/>
          </a:xfrm>
          <a:prstGeom prst="rect">
            <a:avLst/>
          </a:prstGeom>
        </p:spPr>
      </p:pic>
      <p:sp>
        <p:nvSpPr>
          <p:cNvPr id="51" name="Text 43"/>
          <p:cNvSpPr txBox="1"/>
          <p:nvPr/>
        </p:nvSpPr>
        <p:spPr>
          <a:xfrm>
            <a:off x="1009498" y="5629046"/>
            <a:ext cx="2772461" cy="219456"/>
          </a:xfrm>
          <a:prstGeom prst="rect">
            <a:avLst/>
          </a:prstGeom>
          <a:noFill/>
          <a:ln/>
        </p:spPr>
        <p:txBody>
          <a:bodyPr wrap="square" lIns="0" tIns="0" rIns="0" bIns="0" rtlCol="0" anchor="ctr"/>
          <a:lstStyle/>
          <a:p>
            <a:pPr marL="0" indent="0" algn="l">
              <a:buNone/>
            </a:pPr>
            <a:r>
              <a:rPr lang="en-US" sz="1200" b="1" dirty="0">
                <a:solidFill>
                  <a:srgbClr val="AEFF82"/>
                </a:solidFill>
                <a:latin typeface="Poppins" pitchFamily="34" charset="0"/>
                <a:ea typeface="Poppins" pitchFamily="34" charset="-122"/>
                <a:cs typeface="Poppins" pitchFamily="34" charset="-120"/>
              </a:rPr>
              <a:t>TEAM LEADER CONTACT NUMBER</a:t>
            </a:r>
            <a:endParaRPr lang="en-US" sz="1200" dirty="0"/>
          </a:p>
        </p:txBody>
      </p:sp>
      <p:pic>
        <p:nvPicPr>
          <p:cNvPr id="52" name="Image 6" descr="preencoded.png"/>
          <p:cNvPicPr>
            <a:picLocks noChangeAspect="1"/>
          </p:cNvPicPr>
          <p:nvPr/>
        </p:nvPicPr>
        <p:blipFill>
          <a:blip r:embed="rId7"/>
          <a:srcRect l="-2994" r="-2994"/>
          <a:stretch/>
        </p:blipFill>
        <p:spPr>
          <a:xfrm>
            <a:off x="6191402" y="5658307"/>
            <a:ext cx="161849" cy="152705"/>
          </a:xfrm>
          <a:prstGeom prst="rect">
            <a:avLst/>
          </a:prstGeom>
        </p:spPr>
      </p:pic>
      <p:sp>
        <p:nvSpPr>
          <p:cNvPr id="53" name="Text 44"/>
          <p:cNvSpPr txBox="1"/>
          <p:nvPr/>
        </p:nvSpPr>
        <p:spPr>
          <a:xfrm>
            <a:off x="6429146" y="5629046"/>
            <a:ext cx="2514600" cy="219456"/>
          </a:xfrm>
          <a:prstGeom prst="rect">
            <a:avLst/>
          </a:prstGeom>
          <a:noFill/>
          <a:ln/>
        </p:spPr>
        <p:txBody>
          <a:bodyPr wrap="square" lIns="0" tIns="0" rIns="0" bIns="0" rtlCol="0" anchor="ctr"/>
          <a:lstStyle/>
          <a:p>
            <a:pPr marL="0" indent="0" algn="l">
              <a:buNone/>
            </a:pPr>
            <a:r>
              <a:rPr lang="en-US" sz="1200" b="1" dirty="0">
                <a:solidFill>
                  <a:srgbClr val="AEFF82"/>
                </a:solidFill>
                <a:latin typeface="Poppins" pitchFamily="34" charset="0"/>
                <a:ea typeface="Poppins" pitchFamily="34" charset="-122"/>
                <a:cs typeface="Poppins" pitchFamily="34" charset="-120"/>
              </a:rPr>
              <a:t>TEAM LEADER EMAIL ADDRESS</a:t>
            </a:r>
            <a:endParaRPr lang="en-US" sz="1200" dirty="0"/>
          </a:p>
        </p:txBody>
      </p:sp>
      <p:sp>
        <p:nvSpPr>
          <p:cNvPr id="54" name="Text 45"/>
          <p:cNvSpPr txBox="1"/>
          <p:nvPr/>
        </p:nvSpPr>
        <p:spPr>
          <a:xfrm>
            <a:off x="9344254" y="1256386"/>
            <a:ext cx="1719986" cy="191110"/>
          </a:xfrm>
          <a:prstGeom prst="rect">
            <a:avLst/>
          </a:prstGeom>
          <a:noFill/>
          <a:ln/>
        </p:spPr>
        <p:txBody>
          <a:bodyPr wrap="square" lIns="0" tIns="0" rIns="0" bIns="0" rtlCol="0" anchor="ctr"/>
          <a:lstStyle/>
          <a:p>
            <a:pPr marL="0" indent="0" algn="l">
              <a:buNone/>
            </a:pPr>
            <a:r>
              <a:rPr lang="en-US" sz="1000" dirty="0">
                <a:solidFill>
                  <a:srgbClr val="FFFFFF">
                    <a:alpha val="70000"/>
                  </a:srgbClr>
                </a:solidFill>
                <a:latin typeface="Poppins" pitchFamily="34" charset="0"/>
                <a:ea typeface="Poppins" pitchFamily="34" charset="-122"/>
                <a:cs typeface="Poppins" pitchFamily="34" charset="-120"/>
              </a:rPr>
              <a:t>Enter Team Name Here...</a:t>
            </a:r>
            <a:endParaRPr lang="en-US" sz="1000" dirty="0"/>
          </a:p>
        </p:txBody>
      </p:sp>
      <p:sp>
        <p:nvSpPr>
          <p:cNvPr id="55" name="Text 46"/>
          <p:cNvSpPr txBox="1"/>
          <p:nvPr/>
        </p:nvSpPr>
        <p:spPr>
          <a:xfrm>
            <a:off x="4080053" y="2270455"/>
            <a:ext cx="1089965" cy="200254"/>
          </a:xfrm>
          <a:prstGeom prst="rect">
            <a:avLst/>
          </a:prstGeom>
          <a:noFill/>
          <a:ln/>
        </p:spPr>
        <p:txBody>
          <a:bodyPr wrap="square" lIns="0" tIns="0" rIns="0" bIns="0" rtlCol="0" anchor="ctr"/>
          <a:lstStyle/>
          <a:p>
            <a:pPr marL="0" indent="0" algn="l">
              <a:buNone/>
            </a:pPr>
            <a:r>
              <a:rPr lang="en-US" sz="1100" b="1" dirty="0">
                <a:solidFill>
                  <a:schemeClr val="bg1"/>
                </a:solidFill>
                <a:latin typeface="Poppins" pitchFamily="34" charset="0"/>
                <a:cs typeface="Poppins" pitchFamily="34" charset="-120"/>
              </a:rPr>
              <a:t>Krishna R</a:t>
            </a:r>
            <a:endParaRPr lang="en-US" sz="1200" b="1" dirty="0">
              <a:solidFill>
                <a:schemeClr val="bg1"/>
              </a:solidFill>
            </a:endParaRPr>
          </a:p>
        </p:txBody>
      </p:sp>
      <p:sp>
        <p:nvSpPr>
          <p:cNvPr id="56" name="Text 47"/>
          <p:cNvSpPr txBox="1"/>
          <p:nvPr/>
        </p:nvSpPr>
        <p:spPr>
          <a:xfrm>
            <a:off x="8492033" y="2296058"/>
            <a:ext cx="975665" cy="200254"/>
          </a:xfrm>
          <a:prstGeom prst="rect">
            <a:avLst/>
          </a:prstGeom>
          <a:noFill/>
          <a:ln/>
        </p:spPr>
        <p:txBody>
          <a:bodyPr wrap="square" lIns="0" tIns="0" rIns="0" bIns="0" rtlCol="0" anchor="ctr"/>
          <a:lstStyle/>
          <a:p>
            <a:pPr marL="0" indent="0" algn="l">
              <a:buNone/>
            </a:pPr>
            <a:r>
              <a:rPr lang="en-US" sz="1100" dirty="0">
                <a:solidFill>
                  <a:schemeClr val="bg1"/>
                </a:solidFill>
              </a:rPr>
              <a:t>3</a:t>
            </a:r>
            <a:r>
              <a:rPr lang="en-US" sz="1100" baseline="30000" dirty="0">
                <a:solidFill>
                  <a:schemeClr val="bg1"/>
                </a:solidFill>
              </a:rPr>
              <a:t>rd</a:t>
            </a:r>
            <a:r>
              <a:rPr lang="en-US" sz="1100" dirty="0">
                <a:solidFill>
                  <a:schemeClr val="bg1"/>
                </a:solidFill>
              </a:rPr>
              <a:t> Year</a:t>
            </a:r>
          </a:p>
        </p:txBody>
      </p:sp>
      <p:sp>
        <p:nvSpPr>
          <p:cNvPr id="57" name="Text 48"/>
          <p:cNvSpPr txBox="1"/>
          <p:nvPr/>
        </p:nvSpPr>
        <p:spPr>
          <a:xfrm>
            <a:off x="4080053" y="2725826"/>
            <a:ext cx="1242445" cy="157277"/>
          </a:xfrm>
          <a:prstGeom prst="rect">
            <a:avLst/>
          </a:prstGeom>
          <a:noFill/>
          <a:ln/>
        </p:spPr>
        <p:txBody>
          <a:bodyPr wrap="square" lIns="0" tIns="0" rIns="0" bIns="0" rtlCol="0" anchor="ctr"/>
          <a:lstStyle/>
          <a:p>
            <a:pPr marL="0" indent="0" algn="l">
              <a:buNone/>
            </a:pPr>
            <a:r>
              <a:rPr lang="en-US" sz="1100" b="1" dirty="0">
                <a:solidFill>
                  <a:schemeClr val="bg1"/>
                </a:solidFill>
              </a:rPr>
              <a:t>Sumana Sadhukhan</a:t>
            </a:r>
          </a:p>
        </p:txBody>
      </p:sp>
      <p:sp>
        <p:nvSpPr>
          <p:cNvPr id="63" name="Text 54"/>
          <p:cNvSpPr txBox="1"/>
          <p:nvPr/>
        </p:nvSpPr>
        <p:spPr>
          <a:xfrm>
            <a:off x="843838" y="5105094"/>
            <a:ext cx="5252161" cy="238659"/>
          </a:xfrm>
          <a:prstGeom prst="rect">
            <a:avLst/>
          </a:prstGeom>
          <a:noFill/>
          <a:ln/>
        </p:spPr>
        <p:txBody>
          <a:bodyPr wrap="square" lIns="0" tIns="0" rIns="0" bIns="0" rtlCol="0" anchor="ctr"/>
          <a:lstStyle/>
          <a:p>
            <a:pPr marL="0" indent="0" algn="l">
              <a:buNone/>
            </a:pPr>
            <a:r>
              <a:rPr lang="en-US" sz="1200" dirty="0">
                <a:ln>
                  <a:solidFill>
                    <a:schemeClr val="bg1"/>
                  </a:solidFill>
                </a:ln>
                <a:solidFill>
                  <a:schemeClr val="bg1">
                    <a:lumMod val="95000"/>
                  </a:schemeClr>
                </a:solidFill>
                <a:latin typeface="Poppins" pitchFamily="34" charset="0"/>
                <a:cs typeface="Poppins" pitchFamily="34" charset="-120"/>
              </a:rPr>
              <a:t>Vellore Institute of Technology, Chennai Campus</a:t>
            </a:r>
            <a:endParaRPr lang="en-US" sz="1200" dirty="0">
              <a:ln>
                <a:solidFill>
                  <a:schemeClr val="bg1"/>
                </a:solidFill>
              </a:ln>
              <a:solidFill>
                <a:schemeClr val="bg1">
                  <a:lumMod val="95000"/>
                </a:schemeClr>
              </a:solidFill>
            </a:endParaRPr>
          </a:p>
        </p:txBody>
      </p:sp>
      <p:sp>
        <p:nvSpPr>
          <p:cNvPr id="64" name="Text 55"/>
          <p:cNvSpPr txBox="1"/>
          <p:nvPr/>
        </p:nvSpPr>
        <p:spPr>
          <a:xfrm>
            <a:off x="923544" y="6038698"/>
            <a:ext cx="1534363" cy="219456"/>
          </a:xfrm>
          <a:prstGeom prst="rect">
            <a:avLst/>
          </a:prstGeom>
          <a:noFill/>
          <a:ln/>
        </p:spPr>
        <p:txBody>
          <a:bodyPr wrap="square" lIns="0" tIns="0" rIns="0" bIns="0" rtlCol="0" anchor="ctr"/>
          <a:lstStyle/>
          <a:p>
            <a:pPr marL="0" indent="0" algn="l">
              <a:buNone/>
            </a:pPr>
            <a:r>
              <a:rPr lang="en-US" sz="1200" dirty="0">
                <a:ln>
                  <a:solidFill>
                    <a:schemeClr val="bg1"/>
                  </a:solidFill>
                </a:ln>
                <a:solidFill>
                  <a:srgbClr val="FFFFFF">
                    <a:alpha val="50000"/>
                  </a:srgbClr>
                </a:solidFill>
                <a:latin typeface="Poppins" pitchFamily="34" charset="0"/>
                <a:cs typeface="Poppins" pitchFamily="34" charset="-120"/>
              </a:rPr>
              <a:t>+91 9487211358</a:t>
            </a:r>
            <a:endParaRPr lang="en-US" sz="1200" dirty="0">
              <a:ln>
                <a:solidFill>
                  <a:schemeClr val="bg1"/>
                </a:solidFill>
              </a:ln>
            </a:endParaRPr>
          </a:p>
        </p:txBody>
      </p:sp>
      <p:sp>
        <p:nvSpPr>
          <p:cNvPr id="65" name="Text 56"/>
          <p:cNvSpPr txBox="1"/>
          <p:nvPr/>
        </p:nvSpPr>
        <p:spPr>
          <a:xfrm>
            <a:off x="6355080" y="6075579"/>
            <a:ext cx="2413813" cy="154533"/>
          </a:xfrm>
          <a:prstGeom prst="rect">
            <a:avLst/>
          </a:prstGeom>
          <a:noFill/>
          <a:ln/>
        </p:spPr>
        <p:txBody>
          <a:bodyPr wrap="square" lIns="0" tIns="0" rIns="0" bIns="0" rtlCol="0" anchor="ctr"/>
          <a:lstStyle/>
          <a:p>
            <a:pPr marL="0" indent="0" algn="l">
              <a:buNone/>
            </a:pPr>
            <a:r>
              <a:rPr lang="en-US" sz="1200" dirty="0">
                <a:ln>
                  <a:solidFill>
                    <a:schemeClr val="bg1"/>
                  </a:solidFill>
                </a:ln>
                <a:solidFill>
                  <a:srgbClr val="FFFFFF">
                    <a:alpha val="50000"/>
                  </a:srgbClr>
                </a:solidFill>
                <a:latin typeface="Poppins" pitchFamily="34" charset="0"/>
                <a:cs typeface="Poppins" pitchFamily="34" charset="-120"/>
              </a:rPr>
              <a:t>krishna.r2024@vitstudent.ac.in</a:t>
            </a:r>
            <a:endParaRPr lang="en-US" sz="1200" dirty="0">
              <a:ln>
                <a:solidFill>
                  <a:schemeClr val="bg1"/>
                </a:solidFill>
              </a:ln>
            </a:endParaRPr>
          </a:p>
        </p:txBody>
      </p:sp>
      <p:sp>
        <p:nvSpPr>
          <p:cNvPr id="70" name="Shape 1">
            <a:extLst>
              <a:ext uri="{FF2B5EF4-FFF2-40B4-BE49-F238E27FC236}">
                <a16:creationId xmlns:a16="http://schemas.microsoft.com/office/drawing/2014/main" id="{780937B3-EB04-4CBA-C636-AF115BC1E358}"/>
              </a:ext>
            </a:extLst>
          </p:cNvPr>
          <p:cNvSpPr/>
          <p:nvPr/>
        </p:nvSpPr>
        <p:spPr>
          <a:xfrm>
            <a:off x="562356" y="138074"/>
            <a:ext cx="11048695" cy="857707"/>
          </a:xfrm>
          <a:prstGeom prst="roundRect">
            <a:avLst>
              <a:gd name="adj" fmla="val 9476"/>
            </a:avLst>
          </a:prstGeom>
          <a:solidFill>
            <a:srgbClr val="FFFFFF">
              <a:alpha val="95000"/>
            </a:srgbClr>
          </a:solidFill>
          <a:ln/>
          <a:effectLst>
            <a:outerShdw blurRad="63500" dist="38100" dir="5400000" algn="bl" rotWithShape="0">
              <a:srgbClr val="000000">
                <a:alpha val="10000"/>
              </a:srgbClr>
            </a:outerShdw>
          </a:effectLst>
        </p:spPr>
        <p:txBody>
          <a:bodyPr/>
          <a:lstStyle/>
          <a:p>
            <a:endParaRPr lang="en-IN"/>
          </a:p>
        </p:txBody>
      </p:sp>
      <p:pic>
        <p:nvPicPr>
          <p:cNvPr id="5" name="Picture 4">
            <a:extLst>
              <a:ext uri="{FF2B5EF4-FFF2-40B4-BE49-F238E27FC236}">
                <a16:creationId xmlns:a16="http://schemas.microsoft.com/office/drawing/2014/main" id="{5F67FE6B-8CE4-2744-DE3C-E456350E62E4}"/>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504957" y="273709"/>
            <a:ext cx="9163491" cy="586435"/>
          </a:xfrm>
          <a:prstGeom prst="rect">
            <a:avLst/>
          </a:prstGeom>
        </p:spPr>
      </p:pic>
      <p:sp>
        <p:nvSpPr>
          <p:cNvPr id="6" name="Text 47">
            <a:extLst>
              <a:ext uri="{FF2B5EF4-FFF2-40B4-BE49-F238E27FC236}">
                <a16:creationId xmlns:a16="http://schemas.microsoft.com/office/drawing/2014/main" id="{E3B005AD-6BCE-3C77-9485-2CFC3E0ADD46}"/>
              </a:ext>
            </a:extLst>
          </p:cNvPr>
          <p:cNvSpPr txBox="1"/>
          <p:nvPr/>
        </p:nvSpPr>
        <p:spPr>
          <a:xfrm>
            <a:off x="8492032" y="3181767"/>
            <a:ext cx="975665" cy="200254"/>
          </a:xfrm>
          <a:prstGeom prst="rect">
            <a:avLst/>
          </a:prstGeom>
          <a:noFill/>
          <a:ln/>
        </p:spPr>
        <p:txBody>
          <a:bodyPr wrap="square" lIns="0" tIns="0" rIns="0" bIns="0" rtlCol="0" anchor="ctr"/>
          <a:lstStyle/>
          <a:p>
            <a:pPr marL="0" indent="0" algn="l">
              <a:buNone/>
            </a:pPr>
            <a:r>
              <a:rPr lang="en-US" sz="1100" dirty="0">
                <a:solidFill>
                  <a:schemeClr val="bg1"/>
                </a:solidFill>
              </a:rPr>
              <a:t>3</a:t>
            </a:r>
            <a:r>
              <a:rPr lang="en-US" sz="1100" baseline="30000" dirty="0">
                <a:solidFill>
                  <a:schemeClr val="bg1"/>
                </a:solidFill>
              </a:rPr>
              <a:t>rd</a:t>
            </a:r>
            <a:r>
              <a:rPr lang="en-US" sz="1100" dirty="0">
                <a:solidFill>
                  <a:schemeClr val="bg1"/>
                </a:solidFill>
              </a:rPr>
              <a:t> Year</a:t>
            </a:r>
          </a:p>
        </p:txBody>
      </p:sp>
      <p:sp>
        <p:nvSpPr>
          <p:cNvPr id="67" name="Text 47">
            <a:extLst>
              <a:ext uri="{FF2B5EF4-FFF2-40B4-BE49-F238E27FC236}">
                <a16:creationId xmlns:a16="http://schemas.microsoft.com/office/drawing/2014/main" id="{B8F1F219-35C4-52E1-73F5-4EA4F1C8469F}"/>
              </a:ext>
            </a:extLst>
          </p:cNvPr>
          <p:cNvSpPr txBox="1"/>
          <p:nvPr/>
        </p:nvSpPr>
        <p:spPr>
          <a:xfrm>
            <a:off x="8492033" y="2714508"/>
            <a:ext cx="975665" cy="200254"/>
          </a:xfrm>
          <a:prstGeom prst="rect">
            <a:avLst/>
          </a:prstGeom>
          <a:noFill/>
          <a:ln/>
        </p:spPr>
        <p:txBody>
          <a:bodyPr wrap="square" lIns="0" tIns="0" rIns="0" bIns="0" rtlCol="0" anchor="ctr"/>
          <a:lstStyle/>
          <a:p>
            <a:pPr marL="0" indent="0" algn="l">
              <a:buNone/>
            </a:pPr>
            <a:r>
              <a:rPr lang="en-US" sz="1100" dirty="0">
                <a:solidFill>
                  <a:schemeClr val="bg1"/>
                </a:solidFill>
              </a:rPr>
              <a:t>3</a:t>
            </a:r>
            <a:r>
              <a:rPr lang="en-US" sz="1100" baseline="30000" dirty="0">
                <a:solidFill>
                  <a:schemeClr val="bg1"/>
                </a:solidFill>
              </a:rPr>
              <a:t>rd</a:t>
            </a:r>
            <a:r>
              <a:rPr lang="en-US" sz="1100" dirty="0">
                <a:solidFill>
                  <a:schemeClr val="bg1"/>
                </a:solidFill>
              </a:rPr>
              <a:t> Year</a:t>
            </a:r>
          </a:p>
        </p:txBody>
      </p:sp>
      <p:sp>
        <p:nvSpPr>
          <p:cNvPr id="72" name="Text 48">
            <a:extLst>
              <a:ext uri="{FF2B5EF4-FFF2-40B4-BE49-F238E27FC236}">
                <a16:creationId xmlns:a16="http://schemas.microsoft.com/office/drawing/2014/main" id="{87FD021D-543C-A09B-4B4B-133FBD9A2681}"/>
              </a:ext>
            </a:extLst>
          </p:cNvPr>
          <p:cNvSpPr txBox="1"/>
          <p:nvPr/>
        </p:nvSpPr>
        <p:spPr>
          <a:xfrm>
            <a:off x="4080052" y="3175458"/>
            <a:ext cx="1242445" cy="157277"/>
          </a:xfrm>
          <a:prstGeom prst="rect">
            <a:avLst/>
          </a:prstGeom>
          <a:noFill/>
          <a:ln/>
        </p:spPr>
        <p:txBody>
          <a:bodyPr wrap="square" lIns="0" tIns="0" rIns="0" bIns="0" rtlCol="0" anchor="ctr"/>
          <a:lstStyle/>
          <a:p>
            <a:pPr marL="0" indent="0" algn="l">
              <a:buNone/>
            </a:pPr>
            <a:r>
              <a:rPr lang="en-US" sz="1100" b="1" dirty="0">
                <a:solidFill>
                  <a:schemeClr val="bg1"/>
                </a:solidFill>
              </a:rPr>
              <a:t>Shreyanshi Singh</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00036"/>
          </a:solidFill>
          <a:ln/>
        </p:spPr>
        <p:txBody>
          <a:bodyPr/>
          <a:lstStyle/>
          <a:p>
            <a:endParaRPr lang="en-IN"/>
          </a:p>
        </p:txBody>
      </p:sp>
      <p:pic>
        <p:nvPicPr>
          <p:cNvPr id="3" name="Image 0" descr="preencoded.png"/>
          <p:cNvPicPr>
            <a:picLocks noChangeAspect="1"/>
          </p:cNvPicPr>
          <p:nvPr/>
        </p:nvPicPr>
        <p:blipFill>
          <a:blip r:embed="rId3">
            <a:alphaModFix amt="10000"/>
          </a:blip>
          <a:srcRect l="12327" r="12327"/>
          <a:stretch/>
        </p:blipFill>
        <p:spPr>
          <a:xfrm>
            <a:off x="0" y="0"/>
            <a:ext cx="12191695" cy="6858000"/>
          </a:xfrm>
          <a:prstGeom prst="rect">
            <a:avLst/>
          </a:prstGeom>
        </p:spPr>
      </p:pic>
      <p:sp>
        <p:nvSpPr>
          <p:cNvPr id="7" name="Shape 2"/>
          <p:cNvSpPr/>
          <p:nvPr/>
        </p:nvSpPr>
        <p:spPr>
          <a:xfrm>
            <a:off x="571500" y="1333195"/>
            <a:ext cx="75895" cy="409651"/>
          </a:xfrm>
          <a:prstGeom prst="rect">
            <a:avLst/>
          </a:prstGeom>
          <a:solidFill>
            <a:srgbClr val="88E555"/>
          </a:solidFill>
          <a:ln/>
        </p:spPr>
        <p:txBody>
          <a:bodyPr/>
          <a:lstStyle/>
          <a:p>
            <a:endParaRPr lang="en-IN"/>
          </a:p>
        </p:txBody>
      </p:sp>
      <p:sp>
        <p:nvSpPr>
          <p:cNvPr id="8" name="Text 3"/>
          <p:cNvSpPr txBox="1"/>
          <p:nvPr/>
        </p:nvSpPr>
        <p:spPr>
          <a:xfrm>
            <a:off x="838505" y="1295705"/>
            <a:ext cx="5547665" cy="467258"/>
          </a:xfrm>
          <a:prstGeom prst="rect">
            <a:avLst/>
          </a:prstGeom>
          <a:noFill/>
          <a:ln/>
        </p:spPr>
        <p:txBody>
          <a:bodyPr wrap="square" lIns="0" tIns="0" rIns="0" bIns="0" rtlCol="0" anchor="ctr"/>
          <a:lstStyle/>
          <a:p>
            <a:pPr marL="0" indent="0" algn="l">
              <a:buNone/>
            </a:pPr>
            <a:r>
              <a:rPr lang="en-US" sz="2600" b="1" dirty="0">
                <a:solidFill>
                  <a:srgbClr val="FFFFFF"/>
                </a:solidFill>
                <a:latin typeface="Poppins" pitchFamily="34" charset="0"/>
                <a:ea typeface="Poppins" pitchFamily="34" charset="-122"/>
                <a:cs typeface="Poppins" pitchFamily="34" charset="-120"/>
              </a:rPr>
              <a:t>Problem Statement Addressed</a:t>
            </a:r>
            <a:endParaRPr lang="en-US" sz="2600" dirty="0"/>
          </a:p>
        </p:txBody>
      </p:sp>
      <p:sp>
        <p:nvSpPr>
          <p:cNvPr id="9" name="Shape 4"/>
          <p:cNvSpPr/>
          <p:nvPr/>
        </p:nvSpPr>
        <p:spPr>
          <a:xfrm>
            <a:off x="571500" y="2021738"/>
            <a:ext cx="11048695" cy="4552798"/>
          </a:xfrm>
          <a:prstGeom prst="roundRect">
            <a:avLst>
              <a:gd name="adj" fmla="val 672"/>
            </a:avLst>
          </a:prstGeom>
          <a:solidFill>
            <a:srgbClr val="FFFFFF">
              <a:alpha val="5000"/>
            </a:srgbClr>
          </a:solidFill>
          <a:ln w="12700">
            <a:solidFill>
              <a:srgbClr val="88E555">
                <a:alpha val="30000"/>
              </a:srgbClr>
            </a:solidFill>
            <a:prstDash val="solid"/>
          </a:ln>
        </p:spPr>
        <p:txBody>
          <a:bodyPr/>
          <a:lstStyle/>
          <a:p>
            <a:endParaRPr lang="en-IN"/>
          </a:p>
        </p:txBody>
      </p:sp>
      <p:sp>
        <p:nvSpPr>
          <p:cNvPr id="10" name="Shape 5"/>
          <p:cNvSpPr/>
          <p:nvPr/>
        </p:nvSpPr>
        <p:spPr>
          <a:xfrm>
            <a:off x="571500" y="2021738"/>
            <a:ext cx="190195" cy="190195"/>
          </a:xfrm>
          <a:prstGeom prst="roundRect">
            <a:avLst>
              <a:gd name="adj" fmla="val 192308"/>
            </a:avLst>
          </a:prstGeom>
          <a:noFill/>
          <a:ln w="38100">
            <a:solidFill>
              <a:srgbClr val="88E555"/>
            </a:solidFill>
            <a:prstDash val="solid"/>
          </a:ln>
        </p:spPr>
        <p:txBody>
          <a:bodyPr/>
          <a:lstStyle/>
          <a:p>
            <a:endParaRPr lang="en-IN"/>
          </a:p>
        </p:txBody>
      </p:sp>
      <p:sp>
        <p:nvSpPr>
          <p:cNvPr id="11" name="Shape 6"/>
          <p:cNvSpPr/>
          <p:nvPr/>
        </p:nvSpPr>
        <p:spPr>
          <a:xfrm>
            <a:off x="11430000" y="2021738"/>
            <a:ext cx="190195" cy="190195"/>
          </a:xfrm>
          <a:prstGeom prst="rect">
            <a:avLst/>
          </a:prstGeom>
          <a:noFill/>
          <a:ln w="38100">
            <a:solidFill>
              <a:srgbClr val="88E555"/>
            </a:solidFill>
            <a:prstDash val="solid"/>
          </a:ln>
        </p:spPr>
        <p:txBody>
          <a:bodyPr/>
          <a:lstStyle/>
          <a:p>
            <a:endParaRPr lang="en-IN"/>
          </a:p>
        </p:txBody>
      </p:sp>
      <p:sp>
        <p:nvSpPr>
          <p:cNvPr id="12" name="Shape 7"/>
          <p:cNvSpPr/>
          <p:nvPr/>
        </p:nvSpPr>
        <p:spPr>
          <a:xfrm>
            <a:off x="571500" y="6381598"/>
            <a:ext cx="190195" cy="190195"/>
          </a:xfrm>
          <a:prstGeom prst="rect">
            <a:avLst/>
          </a:prstGeom>
          <a:noFill/>
          <a:ln w="38100">
            <a:solidFill>
              <a:srgbClr val="88E555"/>
            </a:solidFill>
            <a:prstDash val="solid"/>
          </a:ln>
        </p:spPr>
        <p:txBody>
          <a:bodyPr/>
          <a:lstStyle/>
          <a:p>
            <a:endParaRPr lang="en-IN"/>
          </a:p>
        </p:txBody>
      </p:sp>
      <p:sp>
        <p:nvSpPr>
          <p:cNvPr id="13" name="Shape 8"/>
          <p:cNvSpPr/>
          <p:nvPr/>
        </p:nvSpPr>
        <p:spPr>
          <a:xfrm>
            <a:off x="11430000" y="6381598"/>
            <a:ext cx="190195" cy="190195"/>
          </a:xfrm>
          <a:prstGeom prst="rect">
            <a:avLst/>
          </a:prstGeom>
          <a:noFill/>
          <a:ln w="38100">
            <a:solidFill>
              <a:srgbClr val="88E555"/>
            </a:solidFill>
            <a:prstDash val="solid"/>
          </a:ln>
        </p:spPr>
        <p:txBody>
          <a:bodyPr/>
          <a:lstStyle/>
          <a:p>
            <a:endParaRPr lang="en-IN"/>
          </a:p>
        </p:txBody>
      </p:sp>
      <p:sp>
        <p:nvSpPr>
          <p:cNvPr id="14" name="Shape 9"/>
          <p:cNvSpPr/>
          <p:nvPr/>
        </p:nvSpPr>
        <p:spPr>
          <a:xfrm>
            <a:off x="961949" y="2412187"/>
            <a:ext cx="571500" cy="571500"/>
          </a:xfrm>
          <a:prstGeom prst="ellipse">
            <a:avLst/>
          </a:prstGeom>
          <a:solidFill>
            <a:srgbClr val="273383">
              <a:alpha val="50000"/>
            </a:srgbClr>
          </a:solidFill>
          <a:ln w="25400">
            <a:solidFill>
              <a:srgbClr val="AEFF82"/>
            </a:solidFill>
            <a:prstDash val="solid"/>
          </a:ln>
        </p:spPr>
        <p:txBody>
          <a:bodyPr/>
          <a:lstStyle/>
          <a:p>
            <a:endParaRPr lang="en-IN"/>
          </a:p>
        </p:txBody>
      </p:sp>
      <p:pic>
        <p:nvPicPr>
          <p:cNvPr id="15" name="Image 3" descr="preencoded.png"/>
          <p:cNvPicPr>
            <a:picLocks noChangeAspect="1"/>
          </p:cNvPicPr>
          <p:nvPr/>
        </p:nvPicPr>
        <p:blipFill>
          <a:blip r:embed="rId4"/>
          <a:srcRect/>
          <a:stretch/>
        </p:blipFill>
        <p:spPr>
          <a:xfrm>
            <a:off x="1133856" y="2583180"/>
            <a:ext cx="228600" cy="228600"/>
          </a:xfrm>
          <a:prstGeom prst="rect">
            <a:avLst/>
          </a:prstGeom>
        </p:spPr>
      </p:pic>
      <p:sp>
        <p:nvSpPr>
          <p:cNvPr id="16" name="Text 10"/>
          <p:cNvSpPr txBox="1"/>
          <p:nvPr/>
        </p:nvSpPr>
        <p:spPr>
          <a:xfrm>
            <a:off x="1705356" y="2369311"/>
            <a:ext cx="9439146" cy="614375"/>
          </a:xfrm>
          <a:prstGeom prst="rect">
            <a:avLst/>
          </a:prstGeom>
          <a:noFill/>
          <a:ln/>
        </p:spPr>
        <p:txBody>
          <a:bodyPr wrap="square" lIns="0" tIns="0" rIns="0" bIns="0" rtlCol="0" anchor="ctr"/>
          <a:lstStyle/>
          <a:p>
            <a:r>
              <a:rPr lang="en-US" sz="1800" dirty="0">
                <a:solidFill>
                  <a:srgbClr val="AEFF82">
                    <a:alpha val="80000"/>
                  </a:srgbClr>
                </a:solidFill>
                <a:latin typeface="Poppins" pitchFamily="34" charset="0"/>
                <a:ea typeface="Poppins" pitchFamily="34" charset="-122"/>
                <a:cs typeface="Poppins" pitchFamily="34" charset="-120"/>
              </a:rPr>
              <a:t>Problem statemen addresses: </a:t>
            </a:r>
            <a:r>
              <a:rPr lang="en-IN" sz="2000" b="1" dirty="0">
                <a:solidFill>
                  <a:schemeClr val="accent6"/>
                </a:solidFill>
              </a:rPr>
              <a:t>AI-Based Restoration of Degraded Semiconductor Wafer Inspection Images</a:t>
            </a:r>
            <a:endParaRPr lang="en-US" sz="2000" b="1" dirty="0">
              <a:solidFill>
                <a:schemeClr val="accent6"/>
              </a:solidFill>
            </a:endParaRPr>
          </a:p>
        </p:txBody>
      </p:sp>
      <p:sp>
        <p:nvSpPr>
          <p:cNvPr id="17" name="Shape 11"/>
          <p:cNvSpPr/>
          <p:nvPr/>
        </p:nvSpPr>
        <p:spPr>
          <a:xfrm>
            <a:off x="828347" y="3242461"/>
            <a:ext cx="10468051" cy="2756207"/>
          </a:xfrm>
          <a:prstGeom prst="roundRect">
            <a:avLst>
              <a:gd name="adj" fmla="val 4277"/>
            </a:avLst>
          </a:prstGeom>
          <a:solidFill>
            <a:srgbClr val="1E3A8A">
              <a:alpha val="40000"/>
            </a:srgbClr>
          </a:solidFill>
          <a:ln w="12700">
            <a:solidFill>
              <a:srgbClr val="1D4ED8"/>
            </a:solidFill>
            <a:prstDash val="solid"/>
          </a:ln>
        </p:spPr>
        <p:txBody>
          <a:bodyPr/>
          <a:lstStyle/>
          <a:p>
            <a:endParaRPr lang="en-IN" dirty="0"/>
          </a:p>
        </p:txBody>
      </p:sp>
      <p:sp>
        <p:nvSpPr>
          <p:cNvPr id="18" name="Text 12"/>
          <p:cNvSpPr txBox="1"/>
          <p:nvPr/>
        </p:nvSpPr>
        <p:spPr>
          <a:xfrm>
            <a:off x="961949" y="3389223"/>
            <a:ext cx="1690726" cy="191110"/>
          </a:xfrm>
          <a:prstGeom prst="rect">
            <a:avLst/>
          </a:prstGeom>
          <a:noFill/>
          <a:ln/>
        </p:spPr>
        <p:txBody>
          <a:bodyPr wrap="square" lIns="0" tIns="0" rIns="0" bIns="0" rtlCol="0" anchor="ctr"/>
          <a:lstStyle/>
          <a:p>
            <a:pPr marL="0" indent="0" algn="l">
              <a:buNone/>
            </a:pPr>
            <a:r>
              <a:rPr lang="en-US" sz="1000" b="1" dirty="0">
                <a:solidFill>
                  <a:srgbClr val="9CA3AF"/>
                </a:solidFill>
                <a:latin typeface="Poppins" pitchFamily="34" charset="0"/>
                <a:ea typeface="Poppins" pitchFamily="34" charset="-122"/>
                <a:cs typeface="Poppins" pitchFamily="34" charset="-120"/>
              </a:rPr>
              <a:t>DESCRIPTION / DETAILS</a:t>
            </a:r>
            <a:endParaRPr lang="en-US" sz="1000" dirty="0"/>
          </a:p>
        </p:txBody>
      </p:sp>
      <p:sp>
        <p:nvSpPr>
          <p:cNvPr id="19" name="Text 13"/>
          <p:cNvSpPr txBox="1"/>
          <p:nvPr/>
        </p:nvSpPr>
        <p:spPr>
          <a:xfrm>
            <a:off x="896517" y="3695801"/>
            <a:ext cx="10248900" cy="2302867"/>
          </a:xfrm>
          <a:prstGeom prst="rect">
            <a:avLst/>
          </a:prstGeom>
          <a:noFill/>
          <a:ln/>
        </p:spPr>
        <p:txBody>
          <a:bodyPr wrap="square" lIns="0" tIns="0" rIns="0" bIns="0" rtlCol="0" anchor="ctr"/>
          <a:lstStyle/>
          <a:p>
            <a:pPr algn="just"/>
            <a:r>
              <a:rPr lang="en-IN" sz="1600" dirty="0">
                <a:solidFill>
                  <a:schemeClr val="bg1"/>
                </a:solidFill>
              </a:rPr>
              <a:t>In semiconductor manufacturing, high-resolution optical inspection images are critical for verifying chip quality and identifying microscopic structural defects. However, optical inspection tools often yield severely degraded images caused by heavy speckle noise and spatial resolution loss, obscuring fine circuit patterns.</a:t>
            </a:r>
          </a:p>
          <a:p>
            <a:pPr algn="just"/>
            <a:endParaRPr lang="en-IN" sz="1600" dirty="0">
              <a:solidFill>
                <a:schemeClr val="bg1"/>
              </a:solidFill>
            </a:endParaRPr>
          </a:p>
          <a:p>
            <a:pPr algn="just"/>
            <a:r>
              <a:rPr lang="en-IN" sz="1600" dirty="0">
                <a:solidFill>
                  <a:schemeClr val="bg1"/>
                </a:solidFill>
              </a:rPr>
              <a:t>Our solution, </a:t>
            </a:r>
            <a:r>
              <a:rPr lang="en-IN" sz="1600" b="1" dirty="0" err="1">
                <a:solidFill>
                  <a:schemeClr val="bg1"/>
                </a:solidFill>
              </a:rPr>
              <a:t>ContextNAFNet</a:t>
            </a:r>
            <a:r>
              <a:rPr lang="en-IN" sz="1600" dirty="0">
                <a:solidFill>
                  <a:schemeClr val="bg1"/>
                </a:solidFill>
              </a:rPr>
              <a:t>, is a deep learning restoration network built to reverse this degradation. By pairing explicit noise feature conditioning with an activation-free residual architecture, our pipeline eliminates speckle grain and reconstructs sharp sub-micron circuit boundaries without altering authentic wafer geometry or introducing false visual artifacts.</a:t>
            </a:r>
          </a:p>
        </p:txBody>
      </p:sp>
      <p:pic>
        <p:nvPicPr>
          <p:cNvPr id="20" name="Picture 19">
            <a:extLst>
              <a:ext uri="{FF2B5EF4-FFF2-40B4-BE49-F238E27FC236}">
                <a16:creationId xmlns:a16="http://schemas.microsoft.com/office/drawing/2014/main" id="{E9F13985-00B4-3FE2-69FB-BA5F88420137}"/>
              </a:ext>
            </a:extLst>
          </p:cNvPr>
          <p:cNvPicPr>
            <a:picLocks noChangeAspect="1"/>
          </p:cNvPicPr>
          <p:nvPr/>
        </p:nvPicPr>
        <p:blipFill>
          <a:blip r:embed="rId5"/>
          <a:stretch>
            <a:fillRect/>
          </a:stretch>
        </p:blipFill>
        <p:spPr>
          <a:xfrm>
            <a:off x="5292164" y="228650"/>
            <a:ext cx="1607366" cy="783591"/>
          </a:xfrm>
          <a:prstGeom prst="rect">
            <a:avLst/>
          </a:prstGeom>
        </p:spPr>
      </p:pic>
      <p:sp>
        <p:nvSpPr>
          <p:cNvPr id="22" name="Shape 1">
            <a:extLst>
              <a:ext uri="{FF2B5EF4-FFF2-40B4-BE49-F238E27FC236}">
                <a16:creationId xmlns:a16="http://schemas.microsoft.com/office/drawing/2014/main" id="{8B3789FB-4EC6-29BB-8AB4-B514BCE88A9C}"/>
              </a:ext>
            </a:extLst>
          </p:cNvPr>
          <p:cNvSpPr/>
          <p:nvPr/>
        </p:nvSpPr>
        <p:spPr>
          <a:xfrm>
            <a:off x="571500" y="266294"/>
            <a:ext cx="11048695" cy="857707"/>
          </a:xfrm>
          <a:prstGeom prst="roundRect">
            <a:avLst>
              <a:gd name="adj" fmla="val 9476"/>
            </a:avLst>
          </a:prstGeom>
          <a:solidFill>
            <a:srgbClr val="FFFFFF">
              <a:alpha val="95000"/>
            </a:srgbClr>
          </a:solidFill>
          <a:ln/>
          <a:effectLst>
            <a:outerShdw blurRad="63500" dist="38100" dir="5400000" algn="bl" rotWithShape="0">
              <a:srgbClr val="000000">
                <a:alpha val="10000"/>
              </a:srgbClr>
            </a:outerShdw>
          </a:effectLst>
        </p:spPr>
        <p:txBody>
          <a:bodyPr/>
          <a:lstStyle/>
          <a:p>
            <a:endParaRPr lang="en-IN"/>
          </a:p>
        </p:txBody>
      </p:sp>
      <p:pic>
        <p:nvPicPr>
          <p:cNvPr id="5" name="Picture 4">
            <a:extLst>
              <a:ext uri="{FF2B5EF4-FFF2-40B4-BE49-F238E27FC236}">
                <a16:creationId xmlns:a16="http://schemas.microsoft.com/office/drawing/2014/main" id="{AFA5626A-1768-0BB6-2B3B-C29607998D9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533449" y="416814"/>
            <a:ext cx="9163491" cy="58643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00036"/>
          </a:solidFill>
          <a:ln/>
        </p:spPr>
        <p:txBody>
          <a:bodyPr/>
          <a:lstStyle/>
          <a:p>
            <a:endParaRPr lang="en-IN"/>
          </a:p>
        </p:txBody>
      </p:sp>
      <p:pic>
        <p:nvPicPr>
          <p:cNvPr id="3" name="Image 0" descr="preencoded.png"/>
          <p:cNvPicPr>
            <a:picLocks noChangeAspect="1"/>
          </p:cNvPicPr>
          <p:nvPr/>
        </p:nvPicPr>
        <p:blipFill>
          <a:blip r:embed="rId3">
            <a:alphaModFix amt="10000"/>
          </a:blip>
          <a:srcRect l="12327" r="12327"/>
          <a:stretch/>
        </p:blipFill>
        <p:spPr>
          <a:xfrm>
            <a:off x="0" y="0"/>
            <a:ext cx="12191695" cy="6858000"/>
          </a:xfrm>
          <a:prstGeom prst="rect">
            <a:avLst/>
          </a:prstGeom>
        </p:spPr>
      </p:pic>
      <p:sp>
        <p:nvSpPr>
          <p:cNvPr id="4" name="Shape 1"/>
          <p:cNvSpPr/>
          <p:nvPr/>
        </p:nvSpPr>
        <p:spPr>
          <a:xfrm>
            <a:off x="571500" y="286207"/>
            <a:ext cx="11048695" cy="666598"/>
          </a:xfrm>
          <a:prstGeom prst="roundRect">
            <a:avLst>
              <a:gd name="adj" fmla="val 15677"/>
            </a:avLst>
          </a:prstGeom>
          <a:solidFill>
            <a:srgbClr val="FFFFFF">
              <a:alpha val="95000"/>
            </a:srgbClr>
          </a:solidFill>
          <a:ln/>
          <a:effectLst>
            <a:outerShdw blurRad="63500" dist="38100" dir="5400000" algn="bl" rotWithShape="0">
              <a:srgbClr val="000000">
                <a:alpha val="10000"/>
              </a:srgbClr>
            </a:outerShdw>
          </a:effectLst>
        </p:spPr>
        <p:txBody>
          <a:bodyPr/>
          <a:lstStyle/>
          <a:p>
            <a:endParaRPr lang="en-IN"/>
          </a:p>
        </p:txBody>
      </p:sp>
      <p:pic>
        <p:nvPicPr>
          <p:cNvPr id="5" name="Image 1" descr="preencoded.png"/>
          <p:cNvPicPr>
            <a:picLocks noChangeAspect="1"/>
          </p:cNvPicPr>
          <p:nvPr/>
        </p:nvPicPr>
        <p:blipFill>
          <a:blip r:embed="rId4"/>
          <a:srcRect t="10" b="10"/>
          <a:stretch/>
        </p:blipFill>
        <p:spPr>
          <a:xfrm>
            <a:off x="857707" y="381305"/>
            <a:ext cx="1266444" cy="476402"/>
          </a:xfrm>
          <a:prstGeom prst="rect">
            <a:avLst/>
          </a:prstGeom>
        </p:spPr>
      </p:pic>
      <p:pic>
        <p:nvPicPr>
          <p:cNvPr id="6" name="Image 2" descr="preencoded.png"/>
          <p:cNvPicPr>
            <a:picLocks noChangeAspect="1"/>
          </p:cNvPicPr>
          <p:nvPr/>
        </p:nvPicPr>
        <p:blipFill>
          <a:blip r:embed="rId5"/>
          <a:srcRect/>
          <a:stretch/>
        </p:blipFill>
        <p:spPr>
          <a:xfrm>
            <a:off x="10858500" y="381305"/>
            <a:ext cx="476402" cy="476402"/>
          </a:xfrm>
          <a:prstGeom prst="rect">
            <a:avLst/>
          </a:prstGeom>
        </p:spPr>
      </p:pic>
      <p:sp>
        <p:nvSpPr>
          <p:cNvPr id="7" name="Shape 2"/>
          <p:cNvSpPr/>
          <p:nvPr/>
        </p:nvSpPr>
        <p:spPr>
          <a:xfrm>
            <a:off x="571500" y="1333195"/>
            <a:ext cx="75895" cy="409651"/>
          </a:xfrm>
          <a:prstGeom prst="rect">
            <a:avLst/>
          </a:prstGeom>
          <a:solidFill>
            <a:srgbClr val="88E555"/>
          </a:solidFill>
          <a:ln/>
        </p:spPr>
        <p:txBody>
          <a:bodyPr/>
          <a:lstStyle/>
          <a:p>
            <a:endParaRPr lang="en-IN"/>
          </a:p>
        </p:txBody>
      </p:sp>
      <p:sp>
        <p:nvSpPr>
          <p:cNvPr id="8" name="Text 3"/>
          <p:cNvSpPr txBox="1"/>
          <p:nvPr/>
        </p:nvSpPr>
        <p:spPr>
          <a:xfrm>
            <a:off x="838504" y="1295705"/>
            <a:ext cx="10682936" cy="467258"/>
          </a:xfrm>
          <a:prstGeom prst="rect">
            <a:avLst/>
          </a:prstGeom>
          <a:noFill/>
          <a:ln/>
        </p:spPr>
        <p:txBody>
          <a:bodyPr wrap="square" lIns="0" tIns="0" rIns="0" bIns="0" rtlCol="0" anchor="ctr"/>
          <a:lstStyle/>
          <a:p>
            <a:r>
              <a:rPr lang="en-US" sz="2600" b="1" dirty="0">
                <a:solidFill>
                  <a:srgbClr val="FFFFFF"/>
                </a:solidFill>
                <a:latin typeface="Poppins" pitchFamily="34" charset="0"/>
                <a:ea typeface="Poppins" pitchFamily="34" charset="-122"/>
                <a:cs typeface="Poppins" pitchFamily="34" charset="-120"/>
              </a:rPr>
              <a:t>Idea Description - </a:t>
            </a:r>
            <a:r>
              <a:rPr lang="en-US" sz="2400" b="1" dirty="0">
                <a:solidFill>
                  <a:schemeClr val="tx2"/>
                </a:solidFill>
                <a:latin typeface="Poppins" panose="00000500000000000000" pitchFamily="2" charset="0"/>
                <a:cs typeface="Poppins" panose="00000500000000000000" pitchFamily="2" charset="0"/>
              </a:rPr>
              <a:t>Describe your Idea/Solution</a:t>
            </a:r>
            <a:r>
              <a:rPr lang="en-US" sz="2400" b="1" u="sng" dirty="0">
                <a:solidFill>
                  <a:schemeClr val="tx2"/>
                </a:solidFill>
                <a:latin typeface="Poppins" panose="00000500000000000000" pitchFamily="2" charset="0"/>
                <a:cs typeface="Poppins" panose="00000500000000000000" pitchFamily="2" charset="0"/>
              </a:rPr>
              <a:t>/</a:t>
            </a:r>
            <a:r>
              <a:rPr lang="en-US" sz="2400" b="1" dirty="0">
                <a:solidFill>
                  <a:schemeClr val="tx2"/>
                </a:solidFill>
                <a:latin typeface="Poppins" panose="00000500000000000000" pitchFamily="2" charset="0"/>
                <a:cs typeface="Poppins" panose="00000500000000000000" pitchFamily="2" charset="0"/>
              </a:rPr>
              <a:t>Prototype</a:t>
            </a:r>
            <a:endParaRPr lang="en-US" sz="2600" dirty="0">
              <a:latin typeface="Poppins" panose="00000500000000000000" pitchFamily="2" charset="0"/>
              <a:cs typeface="Poppins" panose="00000500000000000000" pitchFamily="2" charset="0"/>
            </a:endParaRPr>
          </a:p>
        </p:txBody>
      </p:sp>
      <p:sp>
        <p:nvSpPr>
          <p:cNvPr id="9" name="Shape 4"/>
          <p:cNvSpPr/>
          <p:nvPr/>
        </p:nvSpPr>
        <p:spPr>
          <a:xfrm>
            <a:off x="571500" y="2021738"/>
            <a:ext cx="11048695" cy="4552798"/>
          </a:xfrm>
          <a:prstGeom prst="roundRect">
            <a:avLst>
              <a:gd name="adj" fmla="val 672"/>
            </a:avLst>
          </a:prstGeom>
          <a:solidFill>
            <a:srgbClr val="FFFFFF">
              <a:alpha val="5000"/>
            </a:srgbClr>
          </a:solidFill>
          <a:ln w="12700">
            <a:solidFill>
              <a:srgbClr val="88E555">
                <a:alpha val="30000"/>
              </a:srgbClr>
            </a:solidFill>
            <a:prstDash val="solid"/>
          </a:ln>
        </p:spPr>
        <p:txBody>
          <a:bodyPr/>
          <a:lstStyle/>
          <a:p>
            <a:endParaRPr lang="en-IN"/>
          </a:p>
        </p:txBody>
      </p:sp>
      <p:sp>
        <p:nvSpPr>
          <p:cNvPr id="10" name="Shape 5"/>
          <p:cNvSpPr/>
          <p:nvPr/>
        </p:nvSpPr>
        <p:spPr>
          <a:xfrm>
            <a:off x="571500" y="2021738"/>
            <a:ext cx="190195" cy="190195"/>
          </a:xfrm>
          <a:prstGeom prst="roundRect">
            <a:avLst>
              <a:gd name="adj" fmla="val 192308"/>
            </a:avLst>
          </a:prstGeom>
          <a:noFill/>
          <a:ln w="38100">
            <a:solidFill>
              <a:srgbClr val="88E555"/>
            </a:solidFill>
            <a:prstDash val="solid"/>
          </a:ln>
        </p:spPr>
        <p:txBody>
          <a:bodyPr/>
          <a:lstStyle/>
          <a:p>
            <a:endParaRPr lang="en-IN"/>
          </a:p>
        </p:txBody>
      </p:sp>
      <p:sp>
        <p:nvSpPr>
          <p:cNvPr id="11" name="Shape 6"/>
          <p:cNvSpPr/>
          <p:nvPr/>
        </p:nvSpPr>
        <p:spPr>
          <a:xfrm>
            <a:off x="11430000" y="2021738"/>
            <a:ext cx="190195" cy="190195"/>
          </a:xfrm>
          <a:prstGeom prst="rect">
            <a:avLst/>
          </a:prstGeom>
          <a:noFill/>
          <a:ln w="38100">
            <a:solidFill>
              <a:srgbClr val="88E555"/>
            </a:solidFill>
            <a:prstDash val="solid"/>
          </a:ln>
        </p:spPr>
        <p:txBody>
          <a:bodyPr/>
          <a:lstStyle/>
          <a:p>
            <a:endParaRPr lang="en-IN"/>
          </a:p>
        </p:txBody>
      </p:sp>
      <p:sp>
        <p:nvSpPr>
          <p:cNvPr id="12" name="Shape 7"/>
          <p:cNvSpPr/>
          <p:nvPr/>
        </p:nvSpPr>
        <p:spPr>
          <a:xfrm>
            <a:off x="571500" y="6381598"/>
            <a:ext cx="190195" cy="190195"/>
          </a:xfrm>
          <a:prstGeom prst="rect">
            <a:avLst/>
          </a:prstGeom>
          <a:noFill/>
          <a:ln w="38100">
            <a:solidFill>
              <a:srgbClr val="88E555"/>
            </a:solidFill>
            <a:prstDash val="solid"/>
          </a:ln>
        </p:spPr>
        <p:txBody>
          <a:bodyPr/>
          <a:lstStyle/>
          <a:p>
            <a:endParaRPr lang="en-IN"/>
          </a:p>
        </p:txBody>
      </p:sp>
      <p:sp>
        <p:nvSpPr>
          <p:cNvPr id="13" name="Shape 8"/>
          <p:cNvSpPr/>
          <p:nvPr/>
        </p:nvSpPr>
        <p:spPr>
          <a:xfrm>
            <a:off x="11430000" y="6381598"/>
            <a:ext cx="190195" cy="190195"/>
          </a:xfrm>
          <a:prstGeom prst="rect">
            <a:avLst/>
          </a:prstGeom>
          <a:noFill/>
          <a:ln w="38100">
            <a:solidFill>
              <a:srgbClr val="88E555"/>
            </a:solidFill>
            <a:prstDash val="solid"/>
          </a:ln>
        </p:spPr>
        <p:txBody>
          <a:bodyPr/>
          <a:lstStyle/>
          <a:p>
            <a:endParaRPr lang="en-IN"/>
          </a:p>
        </p:txBody>
      </p:sp>
      <p:sp>
        <p:nvSpPr>
          <p:cNvPr id="14" name="Shape 9"/>
          <p:cNvSpPr/>
          <p:nvPr/>
        </p:nvSpPr>
        <p:spPr>
          <a:xfrm>
            <a:off x="838504" y="2236622"/>
            <a:ext cx="571500" cy="571500"/>
          </a:xfrm>
          <a:prstGeom prst="ellipse">
            <a:avLst/>
          </a:prstGeom>
          <a:solidFill>
            <a:srgbClr val="273383">
              <a:alpha val="50000"/>
            </a:srgbClr>
          </a:solidFill>
          <a:ln w="25400">
            <a:solidFill>
              <a:srgbClr val="AEFF82"/>
            </a:solidFill>
            <a:prstDash val="solid"/>
          </a:ln>
        </p:spPr>
        <p:txBody>
          <a:bodyPr/>
          <a:lstStyle/>
          <a:p>
            <a:endParaRPr lang="en-IN"/>
          </a:p>
        </p:txBody>
      </p:sp>
      <p:pic>
        <p:nvPicPr>
          <p:cNvPr id="15" name="Image 3" descr="preencoded.png"/>
          <p:cNvPicPr>
            <a:picLocks noChangeAspect="1"/>
          </p:cNvPicPr>
          <p:nvPr/>
        </p:nvPicPr>
        <p:blipFill>
          <a:blip r:embed="rId6"/>
          <a:srcRect l="-133" r="-133"/>
          <a:stretch/>
        </p:blipFill>
        <p:spPr>
          <a:xfrm>
            <a:off x="1038300" y="2440635"/>
            <a:ext cx="171907" cy="228600"/>
          </a:xfrm>
          <a:prstGeom prst="rect">
            <a:avLst/>
          </a:prstGeom>
        </p:spPr>
      </p:pic>
      <p:sp>
        <p:nvSpPr>
          <p:cNvPr id="16" name="Text 10"/>
          <p:cNvSpPr txBox="1"/>
          <p:nvPr/>
        </p:nvSpPr>
        <p:spPr>
          <a:xfrm>
            <a:off x="1533449" y="2156154"/>
            <a:ext cx="9813341" cy="629107"/>
          </a:xfrm>
          <a:prstGeom prst="rect">
            <a:avLst/>
          </a:prstGeom>
          <a:noFill/>
          <a:ln/>
        </p:spPr>
        <p:txBody>
          <a:bodyPr wrap="square" lIns="0" tIns="0" rIns="0" bIns="0" rtlCol="0" anchor="ctr"/>
          <a:lstStyle/>
          <a:p>
            <a:pPr marL="0" indent="0" algn="l"/>
            <a:r>
              <a:rPr lang="en-US" sz="1600" dirty="0" i="0">
                <a:solidFill>
                  <a:srgbClr val="AEFF82">
                    <a:alpha val="90000"/>
                  </a:srgbClr>
                </a:solidFill>
                <a:latin typeface="Poppins" pitchFamily="34" charset="0"/>
                <a:ea typeface="Poppins" pitchFamily="34" charset="-122"/>
                <a:cs typeface="Poppins" pitchFamily="34" charset="-120"/>
              </a:rPr>
              <a:t>ContextNAFNet — a noise-conditioned, activation-free U-Net that de-speckles a degraded wafer scan and rebuilds it at 2x resolution in a single forward pass.</a:t>
            </a:r>
            <a:endParaRPr lang="en-US" sz="1600" dirty="0"/>
          </a:p>
        </p:txBody>
      </p:sp>
      <p:sp>
        <p:nvSpPr>
          <p:cNvPr id="17" name="Shape 11"/>
          <p:cNvSpPr/>
          <p:nvPr/>
        </p:nvSpPr>
        <p:spPr>
          <a:xfrm>
            <a:off x="960120" y="2971800"/>
            <a:ext cx="10268712" cy="1664208"/>
          </a:xfrm>
          <a:prstGeom prst="roundRect">
            <a:avLst>
              <a:gd name="adj" fmla="val 8693"/>
            </a:avLst>
          </a:prstGeom>
          <a:solidFill>
            <a:srgbClr val="1E3A8A">
              <a:alpha val="40000"/>
            </a:srgbClr>
          </a:solidFill>
          <a:ln w="12700">
            <a:solidFill>
              <a:srgbClr val="1D4ED8"/>
            </a:solidFill>
            <a:prstDash val="solid"/>
          </a:ln>
        </p:spPr>
        <p:txBody>
          <a:bodyPr/>
          <a:lstStyle/>
          <a:p>
            <a:endParaRPr lang="en-IN" dirty="0"/>
          </a:p>
        </p:txBody>
      </p:sp>
      <p:sp>
        <p:nvSpPr>
          <p:cNvPr id="18" name="Text 12"/>
          <p:cNvSpPr txBox="1"/>
          <p:nvPr/>
        </p:nvSpPr>
        <p:spPr>
          <a:xfrm>
            <a:off x="1197864" y="3127248"/>
            <a:ext cx="1996135" cy="191110"/>
          </a:xfrm>
          <a:prstGeom prst="rect">
            <a:avLst/>
          </a:prstGeom>
          <a:noFill/>
          <a:ln/>
        </p:spPr>
        <p:txBody>
          <a:bodyPr wrap="square" lIns="0" tIns="0" rIns="0" bIns="0" rtlCol="0" anchor="ctr"/>
          <a:lstStyle/>
          <a:p>
            <a:pPr marL="0" indent="0" algn="l">
              <a:buNone/>
            </a:pPr>
            <a:r>
              <a:rPr lang="en-US" sz="1000" b="1" dirty="0">
                <a:solidFill>
                  <a:srgbClr val="9CA3AF"/>
                </a:solidFill>
                <a:latin typeface="Poppins" pitchFamily="34" charset="0"/>
                <a:ea typeface="Poppins" pitchFamily="34" charset="-122"/>
                <a:cs typeface="Poppins" pitchFamily="34" charset="-120"/>
              </a:rPr>
              <a:t>KEY CONCEPT &amp; APPROACH</a:t>
            </a:r>
            <a:endParaRPr lang="en-US" sz="1000" dirty="0"/>
          </a:p>
        </p:txBody>
      </p:sp>
      <p:sp>
        <p:nvSpPr>
          <p:cNvPr id="19" name="Text 13"/>
          <p:cNvSpPr txBox="1"/>
          <p:nvPr/>
        </p:nvSpPr>
        <p:spPr>
          <a:xfrm>
            <a:off x="1197864" y="3346704"/>
            <a:ext cx="9784080" cy="1207008"/>
          </a:xfrm>
          <a:prstGeom prst="rect">
            <a:avLst/>
          </a:prstGeom>
          <a:noFill/>
          <a:ln/>
        </p:spPr>
        <p:txBody>
          <a:bodyPr wrap="square" lIns="0" tIns="0" rIns="0" bIns="0" rtlCol="0" anchor="ctr"/>
          <a:lstStyle/>
          <a:p>
            <a:pPr marL="155448" indent="-155448" algn="l">
              <a:buFont typeface="Arial"/>
              <a:buChar char="•"/>
            </a:pPr>
            <a:r>
              <a:rPr lang="en-US" sz="1200" i="0" dirty="0">
                <a:solidFill>
                  <a:srgbClr val="FFFFFF">
                    <a:alpha val="70000"/>
                  </a:srgbClr>
                </a:solidFill>
                <a:latin typeface="Poppins" pitchFamily="34" charset="0"/>
                <a:ea typeface="Poppins" pitchFamily="34" charset="-122"/>
                <a:cs typeface="Poppins" pitchFamily="34" charset="-120"/>
              </a:rPr>
              <a:t>Condition, then restore: eight explicit noise-statistic channels are estimated from the input and fed in alongside it.</a:t>
            </a:r>
            <a:endParaRPr lang="en-US" sz="1200" dirty="0"/>
          </a:p>
          <a:p>
            <a:pPr marL="155448" indent="-155448" algn="l">
              <a:spcBef>
                <a:spcPts val="300"/>
              </a:spcBef>
              <a:buFont typeface="Arial"/>
              <a:buChar char="•"/>
            </a:pPr>
            <a:r>
              <a:rPr lang="en-US" sz="1200" i="0" dirty="0">
                <a:solidFill>
                  <a:srgbClr val="FFFFFF">
                    <a:alpha val="70000"/>
                  </a:srgbClr>
                </a:solidFill>
                <a:latin typeface="Poppins" pitchFamily="34" charset="0"/>
                <a:ea typeface="Poppins" pitchFamily="34" charset="-122"/>
                <a:cs typeface="Poppins" pitchFamily="34" charset="-120"/>
              </a:rPr>
              <a:t>Activation-free NAFBlocks (SimpleGate + simplified channel attention) — no ReLU clipping of out-of-range speckle.</a:t>
            </a:r>
            <a:endParaRPr lang="en-US" sz="1200" dirty="0"/>
          </a:p>
          <a:p>
            <a:pPr marL="155448" indent="-155448" algn="l">
              <a:spcBef>
                <a:spcPts val="300"/>
              </a:spcBef>
              <a:buFont typeface="Arial"/>
              <a:buChar char="•"/>
            </a:pPr>
            <a:r>
              <a:rPr lang="en-US" sz="1200" i="0" dirty="0">
                <a:solidFill>
                  <a:srgbClr val="FFFFFF">
                    <a:alpha val="70000"/>
                  </a:srgbClr>
                </a:solidFill>
                <a:latin typeface="Poppins" pitchFamily="34" charset="0"/>
                <a:ea typeface="Poppins" pitchFamily="34" charset="-122"/>
                <a:cs typeface="Poppins" pitchFamily="34" charset="-120"/>
              </a:rPr>
              <a:t>Three-level U-Net with 7x7 depthwise convolutions and a 256-channel bottleneck holding two self-attention blocks (8 heads).</a:t>
            </a:r>
            <a:endParaRPr lang="en-US" sz="1200" dirty="0"/>
          </a:p>
          <a:p>
            <a:pPr marL="155448" indent="-155448" algn="l">
              <a:spcBef>
                <a:spcPts val="300"/>
              </a:spcBef>
              <a:buFont typeface="Arial"/>
              <a:buChar char="•"/>
            </a:pPr>
            <a:r>
              <a:rPr lang="en-US" sz="1200" i="0" dirty="0">
                <a:solidFill>
                  <a:srgbClr val="FFFFFF">
                    <a:alpha val="70000"/>
                  </a:srgbClr>
                </a:solidFill>
                <a:latin typeface="Poppins" pitchFamily="34" charset="0"/>
                <a:ea typeface="Poppins" pitchFamily="34" charset="-122"/>
                <a:cs typeface="Poppins" pitchFamily="34" charset="-120"/>
              </a:rPr>
              <a:t>Sub-pixel PixelShuffle head learns only the residual added to the bicubic upsample, then clamps to [0, 1].</a:t>
            </a:r>
            <a:endParaRPr lang="en-US" sz="1200" dirty="0"/>
          </a:p>
        </p:txBody>
      </p:sp>
      <p:sp>
        <p:nvSpPr>
          <p:cNvPr id="20" name="Shape 14"/>
          <p:cNvSpPr/>
          <p:nvPr/>
        </p:nvSpPr>
        <p:spPr>
          <a:xfrm>
            <a:off x="960120" y="4818888"/>
            <a:ext cx="10268712" cy="1490472"/>
          </a:xfrm>
          <a:prstGeom prst="roundRect">
            <a:avLst>
              <a:gd name="adj" fmla="val 8693"/>
            </a:avLst>
          </a:prstGeom>
          <a:solidFill>
            <a:srgbClr val="1E3A8A">
              <a:alpha val="40000"/>
            </a:srgbClr>
          </a:solidFill>
          <a:ln w="12700">
            <a:solidFill>
              <a:srgbClr val="1D4ED8"/>
            </a:solidFill>
            <a:prstDash val="solid"/>
          </a:ln>
        </p:spPr>
        <p:txBody>
          <a:bodyPr/>
          <a:lstStyle/>
          <a:p>
            <a:endParaRPr lang="en-IN"/>
          </a:p>
        </p:txBody>
      </p:sp>
      <p:sp>
        <p:nvSpPr>
          <p:cNvPr id="21" name="Text 15"/>
          <p:cNvSpPr txBox="1"/>
          <p:nvPr/>
        </p:nvSpPr>
        <p:spPr>
          <a:xfrm>
            <a:off x="1197864" y="4974336"/>
            <a:ext cx="1548079" cy="191110"/>
          </a:xfrm>
          <a:prstGeom prst="rect">
            <a:avLst/>
          </a:prstGeom>
          <a:noFill/>
          <a:ln/>
        </p:spPr>
        <p:txBody>
          <a:bodyPr wrap="square" lIns="0" tIns="0" rIns="0" bIns="0" rtlCol="0" anchor="ctr"/>
          <a:lstStyle/>
          <a:p>
            <a:pPr marL="0" indent="0" algn="l">
              <a:buNone/>
            </a:pPr>
            <a:r>
              <a:rPr lang="en-US" sz="1000" b="1" dirty="0">
                <a:solidFill>
                  <a:srgbClr val="9CA3AF"/>
                </a:solidFill>
                <a:latin typeface="Poppins" pitchFamily="34" charset="0"/>
                <a:ea typeface="Poppins" pitchFamily="34" charset="-122"/>
                <a:cs typeface="Poppins" pitchFamily="34" charset="-120"/>
              </a:rPr>
              <a:t>SOLUTION OVERVIEW</a:t>
            </a:r>
            <a:endParaRPr lang="en-US" sz="1000" dirty="0"/>
          </a:p>
        </p:txBody>
      </p:sp>
      <p:sp>
        <p:nvSpPr>
          <p:cNvPr id="22" name="Text 16"/>
          <p:cNvSpPr txBox="1"/>
          <p:nvPr/>
        </p:nvSpPr>
        <p:spPr>
          <a:xfrm>
            <a:off x="1197864" y="5212080"/>
            <a:ext cx="9784080" cy="1005840"/>
          </a:xfrm>
          <a:prstGeom prst="rect">
            <a:avLst/>
          </a:prstGeom>
          <a:noFill/>
          <a:ln/>
        </p:spPr>
        <p:txBody>
          <a:bodyPr wrap="square" lIns="0" tIns="0" rIns="0" bIns="0" rtlCol="0" anchor="ctr"/>
          <a:lstStyle/>
          <a:p>
            <a:pPr marL="155448" indent="-155448" algn="l">
              <a:buFont typeface="Arial"/>
              <a:buChar char="•"/>
            </a:pPr>
            <a:r>
              <a:rPr lang="en-US" sz="1200" i="0" dirty="0">
                <a:solidFill>
                  <a:srgbClr val="FFFFFF">
                    <a:alpha val="70000"/>
                  </a:srgbClr>
                </a:solidFill>
                <a:latin typeface="Poppins" pitchFamily="34" charset="0"/>
                <a:ea typeface="Poppins" pitchFamily="34" charset="-122"/>
                <a:cs typeface="Poppins" pitchFamily="34" charset="-120"/>
              </a:rPr>
              <a:t>One model reverses all three degradations together: speckle noise, Gaussian blur/noise and 2x resolution loss.</a:t>
            </a:r>
            <a:endParaRPr lang="en-US" sz="1200" dirty="0"/>
          </a:p>
          <a:p>
            <a:pPr marL="155448" indent="-155448" algn="l">
              <a:spcBef>
                <a:spcPts val="300"/>
              </a:spcBef>
              <a:buFont typeface="Arial"/>
              <a:buChar char="•"/>
            </a:pPr>
            <a:r>
              <a:rPr lang="en-US" sz="1200" i="0" dirty="0">
                <a:solidFill>
                  <a:srgbClr val="FFFFFF">
                    <a:alpha val="70000"/>
                  </a:srgbClr>
                </a:solidFill>
                <a:latin typeface="Poppins" pitchFamily="34" charset="0"/>
                <a:ea typeface="Poppins" pitchFamily="34" charset="-122"/>
                <a:cs typeface="Poppins" pitchFamily="34" charset="-120"/>
              </a:rPr>
              <a:t>Measured on 480 validation wafers: PSNR 24.88 → 29.15 dB (+4.27 dB), SSIM 0.797 → 0.825.</a:t>
            </a:r>
            <a:endParaRPr lang="en-US" sz="1200" dirty="0"/>
          </a:p>
          <a:p>
            <a:pPr marL="155448" indent="-155448" algn="l">
              <a:spcBef>
                <a:spcPts val="300"/>
              </a:spcBef>
              <a:buFont typeface="Arial"/>
              <a:buChar char="•"/>
            </a:pPr>
            <a:r>
              <a:rPr lang="en-US" sz="1200" i="0" dirty="0">
                <a:solidFill>
                  <a:srgbClr val="FFFFFF">
                    <a:alpha val="70000"/>
                  </a:srgbClr>
                </a:solidFill>
                <a:latin typeface="Poppins" pitchFamily="34" charset="0"/>
                <a:ea typeface="Poppins" pitchFamily="34" charset="-122"/>
                <a:cs typeface="Poppins" pitchFamily="34" charset="-120"/>
              </a:rPr>
              <a:t>8.19 M parameters, ~0.45 s per image with 8-fold TTA; one offline command, CUDA with automatic CPU fallback.</a:t>
            </a:r>
            <a:endParaRPr lang="en-US" sz="1200" dirty="0"/>
          </a:p>
        </p:txBody>
      </p:sp>
      <p:pic>
        <p:nvPicPr>
          <p:cNvPr id="23" name="Picture 22">
            <a:extLst>
              <a:ext uri="{FF2B5EF4-FFF2-40B4-BE49-F238E27FC236}">
                <a16:creationId xmlns:a16="http://schemas.microsoft.com/office/drawing/2014/main" id="{C033FF08-6369-1C95-EB39-A51D568DF008}"/>
              </a:ext>
            </a:extLst>
          </p:cNvPr>
          <p:cNvPicPr>
            <a:picLocks noChangeAspect="1"/>
          </p:cNvPicPr>
          <p:nvPr/>
        </p:nvPicPr>
        <p:blipFill>
          <a:blip r:embed="rId7"/>
          <a:stretch>
            <a:fillRect/>
          </a:stretch>
        </p:blipFill>
        <p:spPr>
          <a:xfrm>
            <a:off x="5292164" y="228650"/>
            <a:ext cx="1607366" cy="783591"/>
          </a:xfrm>
          <a:prstGeom prst="rect">
            <a:avLst/>
          </a:prstGeom>
        </p:spPr>
      </p:pic>
      <p:sp>
        <p:nvSpPr>
          <p:cNvPr id="25" name="Shape 1">
            <a:extLst>
              <a:ext uri="{FF2B5EF4-FFF2-40B4-BE49-F238E27FC236}">
                <a16:creationId xmlns:a16="http://schemas.microsoft.com/office/drawing/2014/main" id="{82B7216B-04F1-E2CC-935F-9AA2CE5B9E43}"/>
              </a:ext>
            </a:extLst>
          </p:cNvPr>
          <p:cNvSpPr/>
          <p:nvPr/>
        </p:nvSpPr>
        <p:spPr>
          <a:xfrm>
            <a:off x="571500" y="209602"/>
            <a:ext cx="11048695" cy="857707"/>
          </a:xfrm>
          <a:prstGeom prst="roundRect">
            <a:avLst>
              <a:gd name="adj" fmla="val 9476"/>
            </a:avLst>
          </a:prstGeom>
          <a:solidFill>
            <a:srgbClr val="FFFFFF">
              <a:alpha val="95000"/>
            </a:srgbClr>
          </a:solidFill>
          <a:ln/>
          <a:effectLst>
            <a:outerShdw blurRad="63500" dist="38100" dir="5400000" algn="bl" rotWithShape="0">
              <a:srgbClr val="000000">
                <a:alpha val="10000"/>
              </a:srgbClr>
            </a:outerShdw>
          </a:effectLst>
        </p:spPr>
        <p:txBody>
          <a:bodyPr/>
          <a:lstStyle/>
          <a:p>
            <a:endParaRPr lang="en-IN"/>
          </a:p>
        </p:txBody>
      </p:sp>
      <p:pic>
        <p:nvPicPr>
          <p:cNvPr id="26" name="Picture 25">
            <a:extLst>
              <a:ext uri="{FF2B5EF4-FFF2-40B4-BE49-F238E27FC236}">
                <a16:creationId xmlns:a16="http://schemas.microsoft.com/office/drawing/2014/main" id="{7743FE56-9400-E309-F93C-96E3C8B4AF82}"/>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501375" y="329389"/>
            <a:ext cx="9163491" cy="58643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00036"/>
          </a:solidFill>
          <a:ln/>
        </p:spPr>
        <p:txBody>
          <a:bodyPr/>
          <a:lstStyle/>
          <a:p>
            <a:endParaRPr lang="en-IN"/>
          </a:p>
        </p:txBody>
      </p:sp>
      <p:pic>
        <p:nvPicPr>
          <p:cNvPr id="3" name="Image 0" descr="preencoded.png"/>
          <p:cNvPicPr>
            <a:picLocks noChangeAspect="1"/>
          </p:cNvPicPr>
          <p:nvPr/>
        </p:nvPicPr>
        <p:blipFill>
          <a:blip r:embed="rId3">
            <a:alphaModFix amt="10000"/>
          </a:blip>
          <a:srcRect l="12327" r="12327"/>
          <a:stretch/>
        </p:blipFill>
        <p:spPr>
          <a:xfrm>
            <a:off x="0" y="0"/>
            <a:ext cx="12191695" cy="6858000"/>
          </a:xfrm>
          <a:prstGeom prst="rect">
            <a:avLst/>
          </a:prstGeom>
        </p:spPr>
      </p:pic>
      <p:sp>
        <p:nvSpPr>
          <p:cNvPr id="4" name="Shape 1"/>
          <p:cNvSpPr/>
          <p:nvPr/>
        </p:nvSpPr>
        <p:spPr>
          <a:xfrm>
            <a:off x="571500" y="286207"/>
            <a:ext cx="11048695" cy="666598"/>
          </a:xfrm>
          <a:prstGeom prst="roundRect">
            <a:avLst>
              <a:gd name="adj" fmla="val 15677"/>
            </a:avLst>
          </a:prstGeom>
          <a:solidFill>
            <a:srgbClr val="FFFFFF">
              <a:alpha val="95000"/>
            </a:srgbClr>
          </a:solidFill>
          <a:ln/>
          <a:effectLst>
            <a:outerShdw blurRad="63500" dist="38100" dir="5400000" algn="bl" rotWithShape="0">
              <a:srgbClr val="000000">
                <a:alpha val="10000"/>
              </a:srgbClr>
            </a:outerShdw>
          </a:effectLst>
        </p:spPr>
        <p:txBody>
          <a:bodyPr/>
          <a:lstStyle/>
          <a:p>
            <a:endParaRPr lang="en-IN"/>
          </a:p>
        </p:txBody>
      </p:sp>
      <p:pic>
        <p:nvPicPr>
          <p:cNvPr id="5" name="Image 1" descr="preencoded.png"/>
          <p:cNvPicPr>
            <a:picLocks noChangeAspect="1"/>
          </p:cNvPicPr>
          <p:nvPr/>
        </p:nvPicPr>
        <p:blipFill>
          <a:blip r:embed="rId4"/>
          <a:srcRect t="10" b="10"/>
          <a:stretch/>
        </p:blipFill>
        <p:spPr>
          <a:xfrm>
            <a:off x="857707" y="381305"/>
            <a:ext cx="1266444" cy="476402"/>
          </a:xfrm>
          <a:prstGeom prst="rect">
            <a:avLst/>
          </a:prstGeom>
        </p:spPr>
      </p:pic>
      <p:pic>
        <p:nvPicPr>
          <p:cNvPr id="6" name="Image 2" descr="preencoded.png"/>
          <p:cNvPicPr>
            <a:picLocks noChangeAspect="1"/>
          </p:cNvPicPr>
          <p:nvPr/>
        </p:nvPicPr>
        <p:blipFill>
          <a:blip r:embed="rId5"/>
          <a:srcRect/>
          <a:stretch/>
        </p:blipFill>
        <p:spPr>
          <a:xfrm>
            <a:off x="10858500" y="381305"/>
            <a:ext cx="476402" cy="476402"/>
          </a:xfrm>
          <a:prstGeom prst="rect">
            <a:avLst/>
          </a:prstGeom>
        </p:spPr>
      </p:pic>
      <p:sp>
        <p:nvSpPr>
          <p:cNvPr id="7" name="Shape 2"/>
          <p:cNvSpPr/>
          <p:nvPr/>
        </p:nvSpPr>
        <p:spPr>
          <a:xfrm>
            <a:off x="571500" y="1333195"/>
            <a:ext cx="75895" cy="409651"/>
          </a:xfrm>
          <a:prstGeom prst="rect">
            <a:avLst/>
          </a:prstGeom>
          <a:solidFill>
            <a:srgbClr val="88E555"/>
          </a:solidFill>
          <a:ln/>
        </p:spPr>
        <p:txBody>
          <a:bodyPr/>
          <a:lstStyle/>
          <a:p>
            <a:endParaRPr lang="en-IN"/>
          </a:p>
        </p:txBody>
      </p:sp>
      <p:sp>
        <p:nvSpPr>
          <p:cNvPr id="8" name="Text 3"/>
          <p:cNvSpPr txBox="1"/>
          <p:nvPr/>
        </p:nvSpPr>
        <p:spPr>
          <a:xfrm>
            <a:off x="838505" y="1295705"/>
            <a:ext cx="10296144" cy="467258"/>
          </a:xfrm>
          <a:prstGeom prst="rect">
            <a:avLst/>
          </a:prstGeom>
          <a:noFill/>
          <a:ln/>
        </p:spPr>
        <p:txBody>
          <a:bodyPr wrap="square" lIns="0" tIns="0" rIns="0" bIns="0" rtlCol="0" anchor="ctr"/>
          <a:lstStyle/>
          <a:p>
            <a:r>
              <a:rPr lang="en-US" sz="2600" b="1" dirty="0">
                <a:solidFill>
                  <a:srgbClr val="FFFFFF"/>
                </a:solidFill>
                <a:latin typeface="Poppins" pitchFamily="34" charset="0"/>
                <a:ea typeface="Poppins" pitchFamily="34" charset="-122"/>
                <a:cs typeface="Poppins" pitchFamily="34" charset="-120"/>
              </a:rPr>
              <a:t>Proposed Solution -</a:t>
            </a:r>
            <a:r>
              <a:rPr lang="en-US" sz="2400" b="1" dirty="0">
                <a:solidFill>
                  <a:schemeClr val="tx2"/>
                </a:solidFill>
                <a:latin typeface="Poppins" panose="00000500000000000000" pitchFamily="2" charset="0"/>
                <a:cs typeface="Poppins" panose="00000500000000000000" pitchFamily="2" charset="0"/>
              </a:rPr>
              <a:t> Describe your Idea/Solution</a:t>
            </a:r>
            <a:r>
              <a:rPr lang="en-US" sz="2400" b="1" u="sng" dirty="0">
                <a:solidFill>
                  <a:schemeClr val="tx2"/>
                </a:solidFill>
                <a:latin typeface="Poppins" panose="00000500000000000000" pitchFamily="2" charset="0"/>
                <a:cs typeface="Poppins" panose="00000500000000000000" pitchFamily="2" charset="0"/>
              </a:rPr>
              <a:t>/</a:t>
            </a:r>
            <a:r>
              <a:rPr lang="en-US" sz="2400" b="1" dirty="0">
                <a:solidFill>
                  <a:schemeClr val="tx2"/>
                </a:solidFill>
                <a:latin typeface="Poppins" panose="00000500000000000000" pitchFamily="2" charset="0"/>
                <a:cs typeface="Poppins" panose="00000500000000000000" pitchFamily="2" charset="0"/>
              </a:rPr>
              <a:t>Prototype</a:t>
            </a:r>
            <a:endParaRPr lang="en-US" sz="2600" dirty="0"/>
          </a:p>
        </p:txBody>
      </p:sp>
      <p:sp>
        <p:nvSpPr>
          <p:cNvPr id="9" name="Shape 4"/>
          <p:cNvSpPr/>
          <p:nvPr/>
        </p:nvSpPr>
        <p:spPr>
          <a:xfrm>
            <a:off x="571500" y="2021738"/>
            <a:ext cx="11048695" cy="4552798"/>
          </a:xfrm>
          <a:prstGeom prst="roundRect">
            <a:avLst>
              <a:gd name="adj" fmla="val 672"/>
            </a:avLst>
          </a:prstGeom>
          <a:solidFill>
            <a:srgbClr val="FFFFFF">
              <a:alpha val="5000"/>
            </a:srgbClr>
          </a:solidFill>
          <a:ln w="12700">
            <a:solidFill>
              <a:srgbClr val="88E555">
                <a:alpha val="30000"/>
              </a:srgbClr>
            </a:solidFill>
            <a:prstDash val="solid"/>
          </a:ln>
        </p:spPr>
        <p:txBody>
          <a:bodyPr/>
          <a:lstStyle/>
          <a:p>
            <a:endParaRPr lang="en-IN"/>
          </a:p>
        </p:txBody>
      </p:sp>
      <p:sp>
        <p:nvSpPr>
          <p:cNvPr id="10" name="Shape 5"/>
          <p:cNvSpPr/>
          <p:nvPr/>
        </p:nvSpPr>
        <p:spPr>
          <a:xfrm>
            <a:off x="571500" y="2021738"/>
            <a:ext cx="190195" cy="190195"/>
          </a:xfrm>
          <a:prstGeom prst="roundRect">
            <a:avLst>
              <a:gd name="adj" fmla="val 192308"/>
            </a:avLst>
          </a:prstGeom>
          <a:noFill/>
          <a:ln w="38100">
            <a:solidFill>
              <a:srgbClr val="88E555"/>
            </a:solidFill>
            <a:prstDash val="solid"/>
          </a:ln>
        </p:spPr>
        <p:txBody>
          <a:bodyPr/>
          <a:lstStyle/>
          <a:p>
            <a:endParaRPr lang="en-IN"/>
          </a:p>
        </p:txBody>
      </p:sp>
      <p:sp>
        <p:nvSpPr>
          <p:cNvPr id="11" name="Shape 6"/>
          <p:cNvSpPr/>
          <p:nvPr/>
        </p:nvSpPr>
        <p:spPr>
          <a:xfrm>
            <a:off x="11430000" y="2021738"/>
            <a:ext cx="190195" cy="190195"/>
          </a:xfrm>
          <a:prstGeom prst="rect">
            <a:avLst/>
          </a:prstGeom>
          <a:noFill/>
          <a:ln w="38100">
            <a:solidFill>
              <a:srgbClr val="88E555"/>
            </a:solidFill>
            <a:prstDash val="solid"/>
          </a:ln>
        </p:spPr>
        <p:txBody>
          <a:bodyPr/>
          <a:lstStyle/>
          <a:p>
            <a:endParaRPr lang="en-IN"/>
          </a:p>
        </p:txBody>
      </p:sp>
      <p:sp>
        <p:nvSpPr>
          <p:cNvPr id="12" name="Shape 7"/>
          <p:cNvSpPr/>
          <p:nvPr/>
        </p:nvSpPr>
        <p:spPr>
          <a:xfrm>
            <a:off x="571500" y="6381598"/>
            <a:ext cx="190195" cy="190195"/>
          </a:xfrm>
          <a:prstGeom prst="rect">
            <a:avLst/>
          </a:prstGeom>
          <a:noFill/>
          <a:ln w="38100">
            <a:solidFill>
              <a:srgbClr val="88E555"/>
            </a:solidFill>
            <a:prstDash val="solid"/>
          </a:ln>
        </p:spPr>
        <p:txBody>
          <a:bodyPr/>
          <a:lstStyle/>
          <a:p>
            <a:endParaRPr lang="en-IN"/>
          </a:p>
        </p:txBody>
      </p:sp>
      <p:sp>
        <p:nvSpPr>
          <p:cNvPr id="13" name="Shape 8"/>
          <p:cNvSpPr/>
          <p:nvPr/>
        </p:nvSpPr>
        <p:spPr>
          <a:xfrm>
            <a:off x="11430000" y="6381598"/>
            <a:ext cx="190195" cy="190195"/>
          </a:xfrm>
          <a:prstGeom prst="rect">
            <a:avLst/>
          </a:prstGeom>
          <a:noFill/>
          <a:ln w="38100">
            <a:solidFill>
              <a:srgbClr val="88E555"/>
            </a:solidFill>
            <a:prstDash val="solid"/>
          </a:ln>
        </p:spPr>
        <p:txBody>
          <a:bodyPr/>
          <a:lstStyle/>
          <a:p>
            <a:endParaRPr lang="en-IN"/>
          </a:p>
        </p:txBody>
      </p:sp>
      <p:sp>
        <p:nvSpPr>
          <p:cNvPr id="14" name="Shape 9"/>
          <p:cNvSpPr/>
          <p:nvPr/>
        </p:nvSpPr>
        <p:spPr>
          <a:xfrm>
            <a:off x="961949" y="2412187"/>
            <a:ext cx="571500" cy="571500"/>
          </a:xfrm>
          <a:prstGeom prst="ellipse">
            <a:avLst/>
          </a:prstGeom>
          <a:solidFill>
            <a:srgbClr val="273383">
              <a:alpha val="50000"/>
            </a:srgbClr>
          </a:solidFill>
          <a:ln w="25400">
            <a:solidFill>
              <a:srgbClr val="AEFF82"/>
            </a:solidFill>
            <a:prstDash val="solid"/>
          </a:ln>
        </p:spPr>
        <p:txBody>
          <a:bodyPr/>
          <a:lstStyle/>
          <a:p>
            <a:endParaRPr lang="en-IN"/>
          </a:p>
        </p:txBody>
      </p:sp>
      <p:pic>
        <p:nvPicPr>
          <p:cNvPr id="15" name="Image 3" descr="preencoded.png"/>
          <p:cNvPicPr>
            <a:picLocks noChangeAspect="1"/>
          </p:cNvPicPr>
          <p:nvPr/>
        </p:nvPicPr>
        <p:blipFill>
          <a:blip r:embed="rId6"/>
          <a:srcRect l="-80" r="-80"/>
          <a:stretch/>
        </p:blipFill>
        <p:spPr>
          <a:xfrm>
            <a:off x="1104595" y="2583180"/>
            <a:ext cx="286207" cy="228600"/>
          </a:xfrm>
          <a:prstGeom prst="rect">
            <a:avLst/>
          </a:prstGeom>
        </p:spPr>
      </p:pic>
      <p:sp>
        <p:nvSpPr>
          <p:cNvPr id="16" name="Text 10"/>
          <p:cNvSpPr txBox="1"/>
          <p:nvPr/>
        </p:nvSpPr>
        <p:spPr>
          <a:xfrm>
            <a:off x="1627632" y="2240280"/>
            <a:ext cx="9418320" cy="566928"/>
          </a:xfrm>
          <a:prstGeom prst="rect">
            <a:avLst/>
          </a:prstGeom>
          <a:noFill/>
          <a:ln/>
        </p:spPr>
        <p:txBody>
          <a:bodyPr wrap="square" lIns="0" tIns="0" rIns="0" bIns="0" rtlCol="0" anchor="ctr"/>
          <a:lstStyle/>
          <a:p>
            <a:pPr marL="0" indent="0" algn="l"/>
            <a:r>
              <a:rPr lang="en-US" sz="1700" dirty="0" i="0">
                <a:solidFill>
                  <a:srgbClr val="AEFF82">
                    <a:alpha val="80000"/>
                  </a:srgbClr>
                </a:solidFill>
                <a:latin typeface="Poppins" pitchFamily="34" charset="0"/>
                <a:ea typeface="Poppins" pitchFamily="34" charset="-122"/>
                <a:cs typeface="Poppins" pitchFamily="34" charset="-120"/>
              </a:rPr>
              <a:t>Calibrated degradation model → explicit noise conditioning → activation-free U-Net → sub-pixel 2x reconstruction.</a:t>
            </a:r>
            <a:endParaRPr lang="en-US" sz="1800" dirty="0"/>
          </a:p>
        </p:txBody>
      </p:sp>
      <p:sp>
        <p:nvSpPr>
          <p:cNvPr id="17" name="Shape 11"/>
          <p:cNvSpPr/>
          <p:nvPr/>
        </p:nvSpPr>
        <p:spPr>
          <a:xfrm>
            <a:off x="960120" y="3017520"/>
            <a:ext cx="4160520" cy="3383280"/>
          </a:xfrm>
          <a:prstGeom prst="roundRect">
            <a:avLst>
              <a:gd name="adj" fmla="val 4277"/>
            </a:avLst>
          </a:prstGeom>
          <a:solidFill>
            <a:srgbClr val="1E3A8A">
              <a:alpha val="40000"/>
            </a:srgbClr>
          </a:solidFill>
          <a:ln w="12700">
            <a:solidFill>
              <a:srgbClr val="1D4ED8"/>
            </a:solidFill>
            <a:prstDash val="solid"/>
          </a:ln>
        </p:spPr>
        <p:txBody>
          <a:bodyPr/>
          <a:lstStyle/>
          <a:p>
            <a:endParaRPr lang="en-IN"/>
          </a:p>
        </p:txBody>
      </p:sp>
      <p:sp>
        <p:nvSpPr>
          <p:cNvPr id="18" name="Text 12"/>
          <p:cNvSpPr txBox="1"/>
          <p:nvPr/>
        </p:nvSpPr>
        <p:spPr>
          <a:xfrm>
            <a:off x="1197864" y="3172968"/>
            <a:ext cx="1367028" cy="191110"/>
          </a:xfrm>
          <a:prstGeom prst="rect">
            <a:avLst/>
          </a:prstGeom>
          <a:noFill/>
          <a:ln/>
        </p:spPr>
        <p:txBody>
          <a:bodyPr wrap="square" lIns="0" tIns="0" rIns="0" bIns="0" rtlCol="0" anchor="ctr"/>
          <a:lstStyle/>
          <a:p>
            <a:pPr marL="0" indent="0" algn="l">
              <a:buNone/>
            </a:pPr>
            <a:r>
              <a:rPr lang="en-US" sz="1000" b="1" dirty="0">
                <a:solidFill>
                  <a:srgbClr val="9CA3AF"/>
                </a:solidFill>
                <a:latin typeface="Poppins" pitchFamily="34" charset="0"/>
                <a:ea typeface="Poppins" pitchFamily="34" charset="-122"/>
                <a:cs typeface="Poppins" pitchFamily="34" charset="-120"/>
              </a:rPr>
              <a:t>SOLUTION DETAILS</a:t>
            </a:r>
            <a:endParaRPr lang="en-US" sz="1000" dirty="0"/>
          </a:p>
        </p:txBody>
      </p:sp>
      <p:sp>
        <p:nvSpPr>
          <p:cNvPr id="19" name="Text 13"/>
          <p:cNvSpPr txBox="1"/>
          <p:nvPr/>
        </p:nvSpPr>
        <p:spPr>
          <a:xfrm>
            <a:off x="1197864" y="3447288"/>
            <a:ext cx="3703320" cy="2880360"/>
          </a:xfrm>
          <a:prstGeom prst="rect">
            <a:avLst/>
          </a:prstGeom>
          <a:noFill/>
          <a:ln/>
        </p:spPr>
        <p:txBody>
          <a:bodyPr wrap="square" lIns="0" tIns="0" rIns="0" bIns="0" rtlCol="0" anchor="ctr"/>
          <a:lstStyle/>
          <a:p>
            <a:pPr marL="155448" indent="-155448" algn="l">
              <a:buFont typeface="Arial"/>
              <a:buChar char="•"/>
            </a:pPr>
            <a:r>
              <a:rPr lang="en-US" sz="1050" i="0" dirty="0">
                <a:solidFill>
                  <a:srgbClr val="FFFFFF">
                    <a:alpha val="70000"/>
                  </a:srgbClr>
                </a:solidFill>
                <a:latin typeface="Poppins" pitchFamily="34" charset="0"/>
                <a:ea typeface="Poppins" pitchFamily="34" charset="-122"/>
                <a:cs typeface="Poppins" pitchFamily="34" charset="-120"/>
              </a:rPr>
              <a:t>Degradation calibrated from 200 sample pairs: quadratic 0.0266, VST margin 0.05.</a:t>
            </a:r>
            <a:endParaRPr lang="en-US" sz="1300" dirty="0"/>
          </a:p>
          <a:p>
            <a:pPr marL="155448" indent="-155448" algn="l">
              <a:spcBef>
                <a:spcPts val="300"/>
              </a:spcBef>
              <a:buFont typeface="Arial"/>
              <a:buChar char="•"/>
            </a:pPr>
            <a:r>
              <a:rPr lang="en-US" sz="1050" i="0" dirty="0">
                <a:solidFill>
                  <a:srgbClr val="FFFFFF">
                    <a:alpha val="70000"/>
                  </a:srgbClr>
                </a:solidFill>
                <a:latin typeface="Poppins" pitchFamily="34" charset="0"/>
                <a:ea typeface="Poppins" pitchFamily="34" charset="-122"/>
                <a:cs typeface="Poppins" pitchFamily="34" charset="-120"/>
              </a:rPr>
              <a:t>Variance stabilisation cuts noise heteroscedasticity from 14.6x to 1.51x.</a:t>
            </a:r>
            <a:endParaRPr lang="en-US" sz="1300" dirty="0"/>
          </a:p>
          <a:p>
            <a:pPr marL="155448" indent="-155448" algn="l">
              <a:spcBef>
                <a:spcPts val="300"/>
              </a:spcBef>
              <a:buFont typeface="Arial"/>
              <a:buChar char="•"/>
            </a:pPr>
            <a:r>
              <a:rPr lang="en-US" sz="1050" i="0" dirty="0">
                <a:solidFill>
                  <a:srgbClr val="FFFFFF">
                    <a:alpha val="70000"/>
                  </a:srgbClr>
                </a:solidFill>
                <a:latin typeface="Poppins" pitchFamily="34" charset="0"/>
                <a:ea typeface="Poppins" pitchFamily="34" charset="-122"/>
                <a:cs typeface="Poppins" pitchFamily="34" charset="-120"/>
              </a:rPr>
              <a:t>Input expanded into eight channels encoding local noise power.</a:t>
            </a:r>
            <a:endParaRPr lang="en-US" sz="1300" dirty="0"/>
          </a:p>
          <a:p>
            <a:pPr marL="155448" indent="-155448" algn="l">
              <a:spcBef>
                <a:spcPts val="300"/>
              </a:spcBef>
              <a:buFont typeface="Arial"/>
              <a:buChar char="•"/>
            </a:pPr>
            <a:r>
              <a:rPr lang="en-US" sz="1050" i="0" dirty="0">
                <a:solidFill>
                  <a:srgbClr val="FFFFFF">
                    <a:alpha val="70000"/>
                  </a:srgbClr>
                </a:solidFill>
                <a:latin typeface="Poppins" pitchFamily="34" charset="0"/>
                <a:ea typeface="Poppins" pitchFamily="34" charset="-122"/>
                <a:cs typeface="Poppins" pitchFamily="34" charset="-120"/>
              </a:rPr>
              <a:t>Depths 6-8-8 at widths 64 / 128 / 256, linked by skip connections.</a:t>
            </a:r>
            <a:endParaRPr lang="en-US" sz="1300" dirty="0"/>
          </a:p>
          <a:p>
            <a:pPr marL="155448" indent="-155448" algn="l">
              <a:spcBef>
                <a:spcPts val="300"/>
              </a:spcBef>
              <a:buFont typeface="Arial"/>
              <a:buChar char="•"/>
            </a:pPr>
            <a:r>
              <a:rPr lang="en-US" sz="1050" i="0" dirty="0">
                <a:solidFill>
                  <a:srgbClr val="FFFFFF">
                    <a:alpha val="70000"/>
                  </a:srgbClr>
                </a:solidFill>
                <a:latin typeface="Poppins" pitchFamily="34" charset="0"/>
                <a:ea typeface="Poppins" pitchFamily="34" charset="-122"/>
                <a:cs typeface="Poppins" pitchFamily="34" charset="-120"/>
              </a:rPr>
              <a:t>Two 8-head self-attention blocks at quarter resolution for wide context.</a:t>
            </a:r>
            <a:endParaRPr lang="en-US" sz="1300" dirty="0"/>
          </a:p>
          <a:p>
            <a:pPr marL="155448" indent="-155448" algn="l">
              <a:spcBef>
                <a:spcPts val="300"/>
              </a:spcBef>
              <a:buFont typeface="Arial"/>
              <a:buChar char="•"/>
            </a:pPr>
            <a:r>
              <a:rPr lang="en-US" sz="1050" i="0" dirty="0">
                <a:solidFill>
                  <a:srgbClr val="FFFFFF">
                    <a:alpha val="70000"/>
                  </a:srgbClr>
                </a:solidFill>
                <a:latin typeface="Poppins" pitchFamily="34" charset="0"/>
                <a:ea typeface="Poppins" pitchFamily="34" charset="-122"/>
                <a:cs typeface="Poppins" pitchFamily="34" charset="-120"/>
              </a:rPr>
              <a:t>Trained 72 epochs: AdamW, cosine schedule, fp16, MSE on 128 px patches.</a:t>
            </a:r>
            <a:endParaRPr lang="en-US" sz="1300" dirty="0"/>
          </a:p>
          <a:p>
            <a:pPr marL="155448" indent="-155448" algn="l">
              <a:spcBef>
                <a:spcPts val="300"/>
              </a:spcBef>
              <a:buFont typeface="Arial"/>
              <a:buChar char="•"/>
            </a:pPr>
            <a:r>
              <a:rPr lang="en-US" sz="1050" i="0" dirty="0">
                <a:solidFill>
                  <a:srgbClr val="FFFFFF">
                    <a:alpha val="70000"/>
                  </a:srgbClr>
                </a:solidFill>
                <a:latin typeface="Poppins" pitchFamily="34" charset="0"/>
                <a:ea typeface="Poppins" pitchFamily="34" charset="-122"/>
                <a:cs typeface="Poppins" pitchFamily="34" charset="-120"/>
              </a:rPr>
              <a:t>Inference uses EMA weights and an 8-fold dihedral self-ensemble.</a:t>
            </a:r>
            <a:endParaRPr lang="en-US" sz="1300" dirty="0"/>
          </a:p>
        </p:txBody>
      </p:sp>
      <p:pic>
        <p:nvPicPr>
          <p:cNvPr id="20" name="Picture 19">
            <a:extLst>
              <a:ext uri="{FF2B5EF4-FFF2-40B4-BE49-F238E27FC236}">
                <a16:creationId xmlns:a16="http://schemas.microsoft.com/office/drawing/2014/main" id="{667D8EB9-0510-8E20-AE50-3B9EC8704685}"/>
              </a:ext>
            </a:extLst>
          </p:cNvPr>
          <p:cNvPicPr>
            <a:picLocks noChangeAspect="1"/>
          </p:cNvPicPr>
          <p:nvPr/>
        </p:nvPicPr>
        <p:blipFill>
          <a:blip r:embed="rId7"/>
          <a:stretch>
            <a:fillRect/>
          </a:stretch>
        </p:blipFill>
        <p:spPr>
          <a:xfrm>
            <a:off x="5292164" y="227710"/>
            <a:ext cx="1607366" cy="783591"/>
          </a:xfrm>
          <a:prstGeom prst="rect">
            <a:avLst/>
          </a:prstGeom>
        </p:spPr>
      </p:pic>
      <p:sp>
        <p:nvSpPr>
          <p:cNvPr id="22" name="Shape 1">
            <a:extLst>
              <a:ext uri="{FF2B5EF4-FFF2-40B4-BE49-F238E27FC236}">
                <a16:creationId xmlns:a16="http://schemas.microsoft.com/office/drawing/2014/main" id="{50164B49-38DE-6195-0A8B-DC6EC6DA2457}"/>
              </a:ext>
            </a:extLst>
          </p:cNvPr>
          <p:cNvSpPr/>
          <p:nvPr/>
        </p:nvSpPr>
        <p:spPr>
          <a:xfrm>
            <a:off x="571500" y="142799"/>
            <a:ext cx="11048695" cy="857707"/>
          </a:xfrm>
          <a:prstGeom prst="roundRect">
            <a:avLst>
              <a:gd name="adj" fmla="val 9476"/>
            </a:avLst>
          </a:prstGeom>
          <a:solidFill>
            <a:srgbClr val="FFFFFF">
              <a:alpha val="95000"/>
            </a:srgbClr>
          </a:solidFill>
          <a:ln/>
          <a:effectLst>
            <a:outerShdw blurRad="63500" dist="38100" dir="5400000" algn="bl" rotWithShape="0">
              <a:srgbClr val="000000">
                <a:alpha val="10000"/>
              </a:srgbClr>
            </a:outerShdw>
          </a:effectLst>
        </p:spPr>
        <p:txBody>
          <a:bodyPr/>
          <a:lstStyle/>
          <a:p>
            <a:endParaRPr lang="en-IN"/>
          </a:p>
        </p:txBody>
      </p:sp>
      <p:pic>
        <p:nvPicPr>
          <p:cNvPr id="23" name="Picture 22">
            <a:extLst>
              <a:ext uri="{FF2B5EF4-FFF2-40B4-BE49-F238E27FC236}">
                <a16:creationId xmlns:a16="http://schemas.microsoft.com/office/drawing/2014/main" id="{18A68BD0-3127-AC0B-80B4-CA2643B37A26}"/>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466553" y="276669"/>
            <a:ext cx="9163491" cy="586435"/>
          </a:xfrm>
          <a:prstGeom prst="rect">
            <a:avLst/>
          </a:prstGeom>
        </p:spPr>
      </p:pic>
      <p:sp>
        <p:nvSpPr>
          <p:cNvPr id="24" name="Rounded Rectangle 23"/>
          <p:cNvSpPr/>
          <p:nvPr/>
        </p:nvSpPr>
        <p:spPr>
          <a:xfrm>
            <a:off x="5423055" y="3017520"/>
            <a:ext cx="5778344" cy="338328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arch_crop.png"/>
          <p:cNvPicPr>
            <a:picLocks noChangeAspect="1"/>
          </p:cNvPicPr>
          <p:nvPr/>
        </p:nvPicPr>
        <p:blipFill>
          <a:blip r:embed="rId9"/>
          <a:stretch>
            <a:fillRect/>
          </a:stretch>
        </p:blipFill>
        <p:spPr>
          <a:xfrm>
            <a:off x="5487063" y="3081528"/>
            <a:ext cx="5650328" cy="3255264"/>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00036"/>
          </a:solidFill>
          <a:ln/>
        </p:spPr>
        <p:txBody>
          <a:bodyPr/>
          <a:lstStyle/>
          <a:p>
            <a:endParaRPr lang="en-IN"/>
          </a:p>
        </p:txBody>
      </p:sp>
      <p:pic>
        <p:nvPicPr>
          <p:cNvPr id="3" name="Image 0" descr="preencoded.png"/>
          <p:cNvPicPr>
            <a:picLocks noChangeAspect="1"/>
          </p:cNvPicPr>
          <p:nvPr/>
        </p:nvPicPr>
        <p:blipFill>
          <a:blip r:embed="rId3">
            <a:alphaModFix amt="10000"/>
          </a:blip>
          <a:srcRect l="12327" r="12327"/>
          <a:stretch/>
        </p:blipFill>
        <p:spPr>
          <a:xfrm>
            <a:off x="0" y="0"/>
            <a:ext cx="12191695" cy="6858000"/>
          </a:xfrm>
          <a:prstGeom prst="rect">
            <a:avLst/>
          </a:prstGeom>
        </p:spPr>
      </p:pic>
      <p:sp>
        <p:nvSpPr>
          <p:cNvPr id="4" name="Shape 1"/>
          <p:cNvSpPr/>
          <p:nvPr/>
        </p:nvSpPr>
        <p:spPr>
          <a:xfrm>
            <a:off x="571500" y="286207"/>
            <a:ext cx="11048695" cy="666598"/>
          </a:xfrm>
          <a:prstGeom prst="roundRect">
            <a:avLst>
              <a:gd name="adj" fmla="val 15677"/>
            </a:avLst>
          </a:prstGeom>
          <a:solidFill>
            <a:srgbClr val="FFFFFF">
              <a:alpha val="95000"/>
            </a:srgbClr>
          </a:solidFill>
          <a:ln/>
          <a:effectLst>
            <a:outerShdw blurRad="63500" dist="38100" dir="5400000" algn="bl" rotWithShape="0">
              <a:srgbClr val="000000">
                <a:alpha val="10000"/>
              </a:srgbClr>
            </a:outerShdw>
          </a:effectLst>
        </p:spPr>
        <p:txBody>
          <a:bodyPr/>
          <a:lstStyle/>
          <a:p>
            <a:endParaRPr lang="en-IN"/>
          </a:p>
        </p:txBody>
      </p:sp>
      <p:pic>
        <p:nvPicPr>
          <p:cNvPr id="5" name="Image 1" descr="preencoded.png"/>
          <p:cNvPicPr>
            <a:picLocks noChangeAspect="1"/>
          </p:cNvPicPr>
          <p:nvPr/>
        </p:nvPicPr>
        <p:blipFill>
          <a:blip r:embed="rId4"/>
          <a:srcRect t="10" b="10"/>
          <a:stretch/>
        </p:blipFill>
        <p:spPr>
          <a:xfrm>
            <a:off x="857707" y="381305"/>
            <a:ext cx="1266444" cy="476402"/>
          </a:xfrm>
          <a:prstGeom prst="rect">
            <a:avLst/>
          </a:prstGeom>
        </p:spPr>
      </p:pic>
      <p:pic>
        <p:nvPicPr>
          <p:cNvPr id="6" name="Image 2" descr="preencoded.png"/>
          <p:cNvPicPr>
            <a:picLocks noChangeAspect="1"/>
          </p:cNvPicPr>
          <p:nvPr/>
        </p:nvPicPr>
        <p:blipFill>
          <a:blip r:embed="rId5"/>
          <a:srcRect/>
          <a:stretch/>
        </p:blipFill>
        <p:spPr>
          <a:xfrm>
            <a:off x="10858500" y="381305"/>
            <a:ext cx="476402" cy="476402"/>
          </a:xfrm>
          <a:prstGeom prst="rect">
            <a:avLst/>
          </a:prstGeom>
        </p:spPr>
      </p:pic>
      <p:sp>
        <p:nvSpPr>
          <p:cNvPr id="7" name="Shape 2"/>
          <p:cNvSpPr/>
          <p:nvPr/>
        </p:nvSpPr>
        <p:spPr>
          <a:xfrm>
            <a:off x="571500" y="1333195"/>
            <a:ext cx="75895" cy="409651"/>
          </a:xfrm>
          <a:prstGeom prst="rect">
            <a:avLst/>
          </a:prstGeom>
          <a:solidFill>
            <a:srgbClr val="88E555"/>
          </a:solidFill>
          <a:ln/>
        </p:spPr>
        <p:txBody>
          <a:bodyPr/>
          <a:lstStyle/>
          <a:p>
            <a:endParaRPr lang="en-IN"/>
          </a:p>
        </p:txBody>
      </p:sp>
      <p:sp>
        <p:nvSpPr>
          <p:cNvPr id="8" name="Text 3"/>
          <p:cNvSpPr txBox="1"/>
          <p:nvPr/>
        </p:nvSpPr>
        <p:spPr>
          <a:xfrm>
            <a:off x="838505" y="1295705"/>
            <a:ext cx="4986223" cy="467258"/>
          </a:xfrm>
          <a:prstGeom prst="rect">
            <a:avLst/>
          </a:prstGeom>
          <a:noFill/>
          <a:ln/>
        </p:spPr>
        <p:txBody>
          <a:bodyPr wrap="square" lIns="0" tIns="0" rIns="0" bIns="0" rtlCol="0" anchor="ctr"/>
          <a:lstStyle/>
          <a:p>
            <a:pPr marL="0" indent="0" algn="l">
              <a:buNone/>
            </a:pPr>
            <a:r>
              <a:rPr lang="en-US" sz="2600" b="1" dirty="0">
                <a:solidFill>
                  <a:srgbClr val="FFFFFF"/>
                </a:solidFill>
                <a:latin typeface="Poppins" pitchFamily="34" charset="0"/>
                <a:ea typeface="Poppins" pitchFamily="34" charset="-122"/>
                <a:cs typeface="Poppins" pitchFamily="34" charset="-120"/>
              </a:rPr>
              <a:t>Innovation and Uniqueness</a:t>
            </a:r>
            <a:endParaRPr lang="en-US" sz="2600" dirty="0"/>
          </a:p>
        </p:txBody>
      </p:sp>
      <p:sp>
        <p:nvSpPr>
          <p:cNvPr id="9" name="Shape 4"/>
          <p:cNvSpPr/>
          <p:nvPr/>
        </p:nvSpPr>
        <p:spPr>
          <a:xfrm>
            <a:off x="571500" y="2021738"/>
            <a:ext cx="11048695" cy="4552798"/>
          </a:xfrm>
          <a:prstGeom prst="roundRect">
            <a:avLst>
              <a:gd name="adj" fmla="val 672"/>
            </a:avLst>
          </a:prstGeom>
          <a:solidFill>
            <a:srgbClr val="FFFFFF">
              <a:alpha val="5000"/>
            </a:srgbClr>
          </a:solidFill>
          <a:ln w="12700">
            <a:solidFill>
              <a:srgbClr val="88E555">
                <a:alpha val="30000"/>
              </a:srgbClr>
            </a:solidFill>
            <a:prstDash val="solid"/>
          </a:ln>
        </p:spPr>
        <p:txBody>
          <a:bodyPr/>
          <a:lstStyle/>
          <a:p>
            <a:endParaRPr lang="en-IN"/>
          </a:p>
        </p:txBody>
      </p:sp>
      <p:sp>
        <p:nvSpPr>
          <p:cNvPr id="10" name="Shape 5"/>
          <p:cNvSpPr/>
          <p:nvPr/>
        </p:nvSpPr>
        <p:spPr>
          <a:xfrm>
            <a:off x="571500" y="2021738"/>
            <a:ext cx="190195" cy="190195"/>
          </a:xfrm>
          <a:prstGeom prst="roundRect">
            <a:avLst>
              <a:gd name="adj" fmla="val 192308"/>
            </a:avLst>
          </a:prstGeom>
          <a:noFill/>
          <a:ln w="38100">
            <a:solidFill>
              <a:srgbClr val="88E555"/>
            </a:solidFill>
            <a:prstDash val="solid"/>
          </a:ln>
        </p:spPr>
        <p:txBody>
          <a:bodyPr/>
          <a:lstStyle/>
          <a:p>
            <a:endParaRPr lang="en-IN"/>
          </a:p>
        </p:txBody>
      </p:sp>
      <p:sp>
        <p:nvSpPr>
          <p:cNvPr id="11" name="Shape 6"/>
          <p:cNvSpPr/>
          <p:nvPr/>
        </p:nvSpPr>
        <p:spPr>
          <a:xfrm>
            <a:off x="11430000" y="2021738"/>
            <a:ext cx="190195" cy="190195"/>
          </a:xfrm>
          <a:prstGeom prst="rect">
            <a:avLst/>
          </a:prstGeom>
          <a:noFill/>
          <a:ln w="38100">
            <a:solidFill>
              <a:srgbClr val="88E555"/>
            </a:solidFill>
            <a:prstDash val="solid"/>
          </a:ln>
        </p:spPr>
        <p:txBody>
          <a:bodyPr/>
          <a:lstStyle/>
          <a:p>
            <a:endParaRPr lang="en-IN"/>
          </a:p>
        </p:txBody>
      </p:sp>
      <p:sp>
        <p:nvSpPr>
          <p:cNvPr id="12" name="Shape 7"/>
          <p:cNvSpPr/>
          <p:nvPr/>
        </p:nvSpPr>
        <p:spPr>
          <a:xfrm>
            <a:off x="571500" y="6381598"/>
            <a:ext cx="190195" cy="190195"/>
          </a:xfrm>
          <a:prstGeom prst="rect">
            <a:avLst/>
          </a:prstGeom>
          <a:noFill/>
          <a:ln w="38100">
            <a:solidFill>
              <a:srgbClr val="88E555"/>
            </a:solidFill>
            <a:prstDash val="solid"/>
          </a:ln>
        </p:spPr>
        <p:txBody>
          <a:bodyPr/>
          <a:lstStyle/>
          <a:p>
            <a:endParaRPr lang="en-IN"/>
          </a:p>
        </p:txBody>
      </p:sp>
      <p:sp>
        <p:nvSpPr>
          <p:cNvPr id="13" name="Shape 8"/>
          <p:cNvSpPr/>
          <p:nvPr/>
        </p:nvSpPr>
        <p:spPr>
          <a:xfrm>
            <a:off x="11430000" y="6381598"/>
            <a:ext cx="190195" cy="190195"/>
          </a:xfrm>
          <a:prstGeom prst="rect">
            <a:avLst/>
          </a:prstGeom>
          <a:noFill/>
          <a:ln w="38100">
            <a:solidFill>
              <a:srgbClr val="88E555"/>
            </a:solidFill>
            <a:prstDash val="solid"/>
          </a:ln>
        </p:spPr>
        <p:txBody>
          <a:bodyPr/>
          <a:lstStyle/>
          <a:p>
            <a:endParaRPr lang="en-IN"/>
          </a:p>
        </p:txBody>
      </p:sp>
      <p:sp>
        <p:nvSpPr>
          <p:cNvPr id="14" name="Shape 9"/>
          <p:cNvSpPr/>
          <p:nvPr/>
        </p:nvSpPr>
        <p:spPr>
          <a:xfrm>
            <a:off x="961949" y="2412187"/>
            <a:ext cx="571500" cy="571500"/>
          </a:xfrm>
          <a:prstGeom prst="ellipse">
            <a:avLst/>
          </a:prstGeom>
          <a:solidFill>
            <a:srgbClr val="273383">
              <a:alpha val="50000"/>
            </a:srgbClr>
          </a:solidFill>
          <a:ln w="25400">
            <a:solidFill>
              <a:srgbClr val="AEFF82"/>
            </a:solidFill>
            <a:prstDash val="solid"/>
          </a:ln>
        </p:spPr>
        <p:txBody>
          <a:bodyPr/>
          <a:lstStyle/>
          <a:p>
            <a:endParaRPr lang="en-IN"/>
          </a:p>
        </p:txBody>
      </p:sp>
      <p:pic>
        <p:nvPicPr>
          <p:cNvPr id="15" name="Image 3" descr="preencoded.png"/>
          <p:cNvPicPr>
            <a:picLocks noChangeAspect="1"/>
          </p:cNvPicPr>
          <p:nvPr/>
        </p:nvPicPr>
        <p:blipFill>
          <a:blip r:embed="rId6"/>
          <a:srcRect l="-133" r="-133"/>
          <a:stretch/>
        </p:blipFill>
        <p:spPr>
          <a:xfrm>
            <a:off x="1162202" y="2583180"/>
            <a:ext cx="171907" cy="228600"/>
          </a:xfrm>
          <a:prstGeom prst="rect">
            <a:avLst/>
          </a:prstGeom>
        </p:spPr>
      </p:pic>
      <p:sp>
        <p:nvSpPr>
          <p:cNvPr id="16" name="Text 10"/>
          <p:cNvSpPr txBox="1"/>
          <p:nvPr/>
        </p:nvSpPr>
        <p:spPr>
          <a:xfrm>
            <a:off x="1627632" y="2331720"/>
            <a:ext cx="9418320" cy="457200"/>
          </a:xfrm>
          <a:prstGeom prst="rect">
            <a:avLst/>
          </a:prstGeom>
          <a:noFill/>
          <a:ln/>
        </p:spPr>
        <p:txBody>
          <a:bodyPr wrap="square" lIns="0" tIns="0" rIns="0" bIns="0" rtlCol="0" anchor="ctr"/>
          <a:lstStyle/>
          <a:p>
            <a:pPr marL="0" indent="0" algn="l"/>
            <a:r>
              <a:rPr lang="en-US" sz="1700" dirty="0" i="0">
                <a:solidFill>
                  <a:srgbClr val="AEFF82">
                    <a:alpha val="80000"/>
                  </a:srgbClr>
                </a:solidFill>
                <a:latin typeface="Poppins" pitchFamily="34" charset="0"/>
                <a:ea typeface="Poppins" pitchFamily="34" charset="-122"/>
                <a:cs typeface="Poppins" pitchFamily="34" charset="-120"/>
              </a:rPr>
              <a:t>What sets ContextNAFNet apart from off-the-shelf denoisers and SR networks:</a:t>
            </a:r>
            <a:endParaRPr lang="en-US" sz="1800" dirty="0"/>
          </a:p>
        </p:txBody>
      </p:sp>
      <p:sp>
        <p:nvSpPr>
          <p:cNvPr id="17" name="Shape 11"/>
          <p:cNvSpPr/>
          <p:nvPr/>
        </p:nvSpPr>
        <p:spPr>
          <a:xfrm>
            <a:off x="960120" y="3291840"/>
            <a:ext cx="5020056" cy="2971800"/>
          </a:xfrm>
          <a:prstGeom prst="roundRect">
            <a:avLst>
              <a:gd name="adj" fmla="val 3412"/>
            </a:avLst>
          </a:prstGeom>
          <a:solidFill>
            <a:srgbClr val="1E3A8A">
              <a:alpha val="40000"/>
            </a:srgbClr>
          </a:solidFill>
          <a:ln w="12700">
            <a:solidFill>
              <a:srgbClr val="1D4ED8"/>
            </a:solidFill>
            <a:prstDash val="solid"/>
          </a:ln>
        </p:spPr>
        <p:txBody>
          <a:bodyPr/>
          <a:lstStyle/>
          <a:p>
            <a:endParaRPr lang="en-IN"/>
          </a:p>
        </p:txBody>
      </p:sp>
      <p:sp>
        <p:nvSpPr>
          <p:cNvPr id="18" name="Text 12"/>
          <p:cNvSpPr txBox="1"/>
          <p:nvPr/>
        </p:nvSpPr>
        <p:spPr>
          <a:xfrm>
            <a:off x="1197864" y="3474720"/>
            <a:ext cx="1271930" cy="191110"/>
          </a:xfrm>
          <a:prstGeom prst="rect">
            <a:avLst/>
          </a:prstGeom>
          <a:noFill/>
          <a:ln/>
        </p:spPr>
        <p:txBody>
          <a:bodyPr wrap="square" lIns="0" tIns="0" rIns="0" bIns="0" rtlCol="0" anchor="ctr"/>
          <a:lstStyle/>
          <a:p>
            <a:pPr marL="0" indent="0" algn="l">
              <a:buNone/>
            </a:pPr>
            <a:r>
              <a:rPr lang="en-US" sz="1000" b="1" dirty="0">
                <a:solidFill>
                  <a:srgbClr val="9CA3AF"/>
                </a:solidFill>
                <a:latin typeface="Poppins" pitchFamily="34" charset="0"/>
                <a:ea typeface="Poppins" pitchFamily="34" charset="-122"/>
                <a:cs typeface="Poppins" pitchFamily="34" charset="-120"/>
              </a:rPr>
              <a:t>KEY INNOVATION</a:t>
            </a:r>
            <a:endParaRPr lang="en-US" sz="1000" dirty="0"/>
          </a:p>
        </p:txBody>
      </p:sp>
      <p:sp>
        <p:nvSpPr>
          <p:cNvPr id="19" name="Text 13"/>
          <p:cNvSpPr txBox="1"/>
          <p:nvPr/>
        </p:nvSpPr>
        <p:spPr>
          <a:xfrm>
            <a:off x="1197864" y="3749039"/>
            <a:ext cx="4526280" cy="2377440"/>
          </a:xfrm>
          <a:prstGeom prst="rect">
            <a:avLst/>
          </a:prstGeom>
          <a:noFill/>
          <a:ln/>
        </p:spPr>
        <p:txBody>
          <a:bodyPr wrap="square" lIns="0" tIns="0" rIns="0" bIns="0" rtlCol="0" anchor="ctr"/>
          <a:lstStyle/>
          <a:p>
            <a:pPr marL="155448" indent="-155448" algn="l">
              <a:buFont typeface="Arial"/>
              <a:buChar char="•"/>
            </a:pPr>
            <a:r>
              <a:rPr lang="en-US" sz="1100" i="0" dirty="0">
                <a:solidFill>
                  <a:srgbClr val="FFFFFF">
                    <a:alpha val="70000"/>
                  </a:srgbClr>
                </a:solidFill>
                <a:latin typeface="Poppins" pitchFamily="34" charset="0"/>
                <a:ea typeface="Poppins" pitchFamily="34" charset="-122"/>
                <a:cs typeface="Poppins" pitchFamily="34" charset="-120"/>
              </a:rPr>
              <a:t>The network is told how noisy each region is — eight explicit noise-statistic channels instead of blind inference.</a:t>
            </a:r>
            <a:endParaRPr lang="en-US" sz="1200" dirty="0"/>
          </a:p>
          <a:p>
            <a:pPr marL="155448" indent="-155448" algn="l">
              <a:spcBef>
                <a:spcPts val="300"/>
              </a:spcBef>
              <a:buFont typeface="Arial"/>
              <a:buChar char="•"/>
            </a:pPr>
            <a:r>
              <a:rPr lang="en-US" sz="1100" i="0" dirty="0">
                <a:solidFill>
                  <a:srgbClr val="FFFFFF">
                    <a:alpha val="70000"/>
                  </a:srgbClr>
                </a:solidFill>
                <a:latin typeface="Poppins" pitchFamily="34" charset="0"/>
                <a:ea typeface="Poppins" pitchFamily="34" charset="-122"/>
                <a:cs typeface="Poppins" pitchFamily="34" charset="-120"/>
              </a:rPr>
              <a:t>Zero activation functions: SimpleGate multiplication keeps speckle intensities above 1.0 that ReLU/GELU would clip.</a:t>
            </a:r>
            <a:endParaRPr lang="en-US" sz="1200" dirty="0"/>
          </a:p>
          <a:p>
            <a:pPr marL="155448" indent="-155448" algn="l">
              <a:spcBef>
                <a:spcPts val="300"/>
              </a:spcBef>
              <a:buFont typeface="Arial"/>
              <a:buChar char="•"/>
            </a:pPr>
            <a:r>
              <a:rPr lang="en-US" sz="1100" i="0" dirty="0">
                <a:solidFill>
                  <a:srgbClr val="FFFFFF">
                    <a:alpha val="70000"/>
                  </a:srgbClr>
                </a:solidFill>
                <a:latin typeface="Poppins" pitchFamily="34" charset="0"/>
                <a:ea typeface="Poppins" pitchFamily="34" charset="-122"/>
                <a:cs typeface="Poppins" pitchFamily="34" charset="-120"/>
              </a:rPr>
              <a:t>Attention only where it is affordable — 8 heads at quarter resolution, so global context costs little compute.</a:t>
            </a:r>
            <a:endParaRPr lang="en-US" sz="1200" dirty="0"/>
          </a:p>
          <a:p>
            <a:pPr marL="155448" indent="-155448" algn="l">
              <a:spcBef>
                <a:spcPts val="300"/>
              </a:spcBef>
              <a:buFont typeface="Arial"/>
              <a:buChar char="•"/>
            </a:pPr>
            <a:r>
              <a:rPr lang="en-US" sz="1100" i="0" dirty="0">
                <a:solidFill>
                  <a:srgbClr val="FFFFFF">
                    <a:alpha val="70000"/>
                  </a:srgbClr>
                </a:solidFill>
                <a:latin typeface="Poppins" pitchFamily="34" charset="0"/>
                <a:ea typeface="Poppins" pitchFamily="34" charset="-122"/>
                <a:cs typeface="Poppins" pitchFamily="34" charset="-120"/>
              </a:rPr>
              <a:t>De-speckling and 2x super-resolution are learned jointly, not chained as two lossy stages.</a:t>
            </a:r>
            <a:endParaRPr lang="en-US" sz="1200" dirty="0"/>
          </a:p>
        </p:txBody>
      </p:sp>
      <p:sp>
        <p:nvSpPr>
          <p:cNvPr id="20" name="Shape 14"/>
          <p:cNvSpPr/>
          <p:nvPr/>
        </p:nvSpPr>
        <p:spPr>
          <a:xfrm>
            <a:off x="6208776" y="3291840"/>
            <a:ext cx="5020056" cy="2971800"/>
          </a:xfrm>
          <a:prstGeom prst="roundRect">
            <a:avLst>
              <a:gd name="adj" fmla="val 3412"/>
            </a:avLst>
          </a:prstGeom>
          <a:solidFill>
            <a:srgbClr val="1E3A8A">
              <a:alpha val="40000"/>
            </a:srgbClr>
          </a:solidFill>
          <a:ln w="12700">
            <a:solidFill>
              <a:srgbClr val="1D4ED8"/>
            </a:solidFill>
            <a:prstDash val="solid"/>
          </a:ln>
        </p:spPr>
        <p:txBody>
          <a:bodyPr/>
          <a:lstStyle/>
          <a:p>
            <a:endParaRPr lang="en-IN"/>
          </a:p>
        </p:txBody>
      </p:sp>
      <p:sp>
        <p:nvSpPr>
          <p:cNvPr id="21" name="Text 15"/>
          <p:cNvSpPr txBox="1"/>
          <p:nvPr/>
        </p:nvSpPr>
        <p:spPr>
          <a:xfrm>
            <a:off x="6446520" y="3474720"/>
            <a:ext cx="1901038" cy="191110"/>
          </a:xfrm>
          <a:prstGeom prst="rect">
            <a:avLst/>
          </a:prstGeom>
          <a:noFill/>
          <a:ln/>
        </p:spPr>
        <p:txBody>
          <a:bodyPr wrap="square" lIns="0" tIns="0" rIns="0" bIns="0" rtlCol="0" anchor="ctr"/>
          <a:lstStyle/>
          <a:p>
            <a:pPr marL="0" indent="0" algn="l">
              <a:buNone/>
            </a:pPr>
            <a:r>
              <a:rPr lang="en-US" sz="1000" b="1" dirty="0">
                <a:solidFill>
                  <a:srgbClr val="9CA3AF"/>
                </a:solidFill>
                <a:latin typeface="Poppins" pitchFamily="34" charset="0"/>
                <a:ea typeface="Poppins" pitchFamily="34" charset="-122"/>
                <a:cs typeface="Poppins" pitchFamily="34" charset="-120"/>
              </a:rPr>
              <a:t>COMPETITIVE ADVANTAGE</a:t>
            </a:r>
            <a:endParaRPr lang="en-US" sz="1000" dirty="0"/>
          </a:p>
        </p:txBody>
      </p:sp>
      <p:sp>
        <p:nvSpPr>
          <p:cNvPr id="22" name="Text 16"/>
          <p:cNvSpPr txBox="1"/>
          <p:nvPr/>
        </p:nvSpPr>
        <p:spPr>
          <a:xfrm>
            <a:off x="6446520" y="3749039"/>
            <a:ext cx="4526280" cy="2377440"/>
          </a:xfrm>
          <a:prstGeom prst="rect">
            <a:avLst/>
          </a:prstGeom>
          <a:noFill/>
          <a:ln/>
        </p:spPr>
        <p:txBody>
          <a:bodyPr wrap="square" lIns="0" tIns="0" rIns="0" bIns="0" rtlCol="0" anchor="ctr"/>
          <a:lstStyle/>
          <a:p>
            <a:pPr marL="155448" indent="-155448" algn="l">
              <a:buFont typeface="Arial"/>
              <a:buChar char="•"/>
            </a:pPr>
            <a:r>
              <a:rPr lang="en-US" sz="1100" i="0" dirty="0">
                <a:solidFill>
                  <a:srgbClr val="FFFFFF">
                    <a:alpha val="70000"/>
                  </a:srgbClr>
                </a:solidFill>
                <a:latin typeface="Poppins" pitchFamily="34" charset="0"/>
                <a:ea typeface="Poppins" pitchFamily="34" charset="-122"/>
                <a:cs typeface="Poppins" pitchFamily="34" charset="-120"/>
              </a:rPr>
              <a:t>+4.27 dB PSNR and +0.028 SSIM over the degraded input across 480 wafers, with no hand-tuned filter parameters.</a:t>
            </a:r>
            <a:endParaRPr lang="en-US" sz="1200" dirty="0"/>
          </a:p>
          <a:p>
            <a:pPr marL="155448" indent="-155448" algn="l">
              <a:spcBef>
                <a:spcPts val="300"/>
              </a:spcBef>
              <a:buFont typeface="Arial"/>
              <a:buChar char="•"/>
            </a:pPr>
            <a:r>
              <a:rPr lang="en-US" sz="1100" i="0" dirty="0">
                <a:solidFill>
                  <a:srgbClr val="FFFFFF">
                    <a:alpha val="70000"/>
                  </a:srgbClr>
                </a:solidFill>
                <a:latin typeface="Poppins" pitchFamily="34" charset="0"/>
                <a:ea typeface="Poppins" pitchFamily="34" charset="-122"/>
                <a:cs typeface="Poppins" pitchFamily="34" charset="-120"/>
              </a:rPr>
              <a:t>Holds up across regimes: +5.05 dB on a patterned wafer, +2.95 dB SNR on the heaviest-noise sample.</a:t>
            </a:r>
            <a:endParaRPr lang="en-US" sz="1200" dirty="0"/>
          </a:p>
          <a:p>
            <a:pPr marL="155448" indent="-155448" algn="l">
              <a:spcBef>
                <a:spcPts val="300"/>
              </a:spcBef>
              <a:buFont typeface="Arial"/>
              <a:buChar char="•"/>
            </a:pPr>
            <a:r>
              <a:rPr lang="en-US" sz="1100" i="0" dirty="0">
                <a:solidFill>
                  <a:srgbClr val="FFFFFF">
                    <a:alpha val="70000"/>
                  </a:srgbClr>
                </a:solidFill>
                <a:latin typeface="Poppins" pitchFamily="34" charset="0"/>
                <a:ea typeface="Poppins" pitchFamily="34" charset="-122"/>
                <a:cs typeface="Poppins" pitchFamily="34" charset="-120"/>
              </a:rPr>
              <a:t>8.19 M parameters and 31 MiB of weights — small enough to sit beside the inspection tool.</a:t>
            </a:r>
            <a:endParaRPr lang="en-US" sz="1200" dirty="0"/>
          </a:p>
          <a:p>
            <a:pPr marL="155448" indent="-155448" algn="l">
              <a:spcBef>
                <a:spcPts val="300"/>
              </a:spcBef>
              <a:buFont typeface="Arial"/>
              <a:buChar char="•"/>
            </a:pPr>
            <a:r>
              <a:rPr lang="en-US" sz="1100" i="0" dirty="0">
                <a:solidFill>
                  <a:srgbClr val="FFFFFF">
                    <a:alpha val="70000"/>
                  </a:srgbClr>
                </a:solidFill>
                <a:latin typeface="Poppins" pitchFamily="34" charset="0"/>
                <a:ea typeface="Poppins" pitchFamily="34" charset="-122"/>
                <a:cs typeface="Poppins" pitchFamily="34" charset="-120"/>
              </a:rPr>
              <a:t>~0.45 s per image, fully offline: no API keys, downloads or operator settings.</a:t>
            </a:r>
            <a:endParaRPr lang="en-US" sz="1200" dirty="0"/>
          </a:p>
          <a:p>
            <a:pPr marL="155448" indent="-155448" algn="l">
              <a:spcBef>
                <a:spcPts val="300"/>
              </a:spcBef>
              <a:buFont typeface="Arial"/>
              <a:buChar char="•"/>
            </a:pPr>
            <a:r>
              <a:rPr lang="en-US" sz="1100" i="0" dirty="0">
                <a:solidFill>
                  <a:srgbClr val="FFFFFF">
                    <a:alpha val="70000"/>
                  </a:srgbClr>
                </a:solidFill>
                <a:latin typeface="Poppins" pitchFamily="34" charset="0"/>
                <a:ea typeface="Poppins" pitchFamily="34" charset="-122"/>
                <a:cs typeface="Poppins" pitchFamily="34" charset="-120"/>
              </a:rPr>
              <a:t>Evaluator-ready: one command, same-named float32 .npy outputs at exactly 2H x 2W.</a:t>
            </a:r>
            <a:endParaRPr lang="en-US" sz="1200" dirty="0"/>
          </a:p>
        </p:txBody>
      </p:sp>
      <p:pic>
        <p:nvPicPr>
          <p:cNvPr id="23" name="Picture 22">
            <a:extLst>
              <a:ext uri="{FF2B5EF4-FFF2-40B4-BE49-F238E27FC236}">
                <a16:creationId xmlns:a16="http://schemas.microsoft.com/office/drawing/2014/main" id="{48B85B4A-4413-5424-84AE-2AF429F27FBC}"/>
              </a:ext>
            </a:extLst>
          </p:cNvPr>
          <p:cNvPicPr>
            <a:picLocks noChangeAspect="1"/>
          </p:cNvPicPr>
          <p:nvPr/>
        </p:nvPicPr>
        <p:blipFill>
          <a:blip r:embed="rId7"/>
          <a:stretch>
            <a:fillRect/>
          </a:stretch>
        </p:blipFill>
        <p:spPr>
          <a:xfrm>
            <a:off x="5178322" y="228650"/>
            <a:ext cx="1607366" cy="783591"/>
          </a:xfrm>
          <a:prstGeom prst="rect">
            <a:avLst/>
          </a:prstGeom>
        </p:spPr>
      </p:pic>
      <p:sp>
        <p:nvSpPr>
          <p:cNvPr id="25" name="Shape 1">
            <a:extLst>
              <a:ext uri="{FF2B5EF4-FFF2-40B4-BE49-F238E27FC236}">
                <a16:creationId xmlns:a16="http://schemas.microsoft.com/office/drawing/2014/main" id="{BB3A3471-21A6-8A80-8399-32E98C63F186}"/>
              </a:ext>
            </a:extLst>
          </p:cNvPr>
          <p:cNvSpPr/>
          <p:nvPr/>
        </p:nvSpPr>
        <p:spPr>
          <a:xfrm>
            <a:off x="571500" y="258065"/>
            <a:ext cx="11048695" cy="857707"/>
          </a:xfrm>
          <a:prstGeom prst="roundRect">
            <a:avLst>
              <a:gd name="adj" fmla="val 9476"/>
            </a:avLst>
          </a:prstGeom>
          <a:solidFill>
            <a:srgbClr val="FFFFFF">
              <a:alpha val="95000"/>
            </a:srgbClr>
          </a:solidFill>
          <a:ln/>
          <a:effectLst>
            <a:outerShdw blurRad="63500" dist="38100" dir="5400000" algn="bl" rotWithShape="0">
              <a:srgbClr val="000000">
                <a:alpha val="10000"/>
              </a:srgbClr>
            </a:outerShdw>
          </a:effectLst>
        </p:spPr>
        <p:txBody>
          <a:bodyPr/>
          <a:lstStyle/>
          <a:p>
            <a:endParaRPr lang="en-IN"/>
          </a:p>
        </p:txBody>
      </p:sp>
      <p:pic>
        <p:nvPicPr>
          <p:cNvPr id="26" name="Picture 25">
            <a:extLst>
              <a:ext uri="{FF2B5EF4-FFF2-40B4-BE49-F238E27FC236}">
                <a16:creationId xmlns:a16="http://schemas.microsoft.com/office/drawing/2014/main" id="{1ADA517E-8996-A444-E540-A2F9B8F98D2B}"/>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490929" y="393700"/>
            <a:ext cx="9163491" cy="58643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00036"/>
          </a:solidFill>
          <a:ln/>
        </p:spPr>
        <p:txBody>
          <a:bodyPr/>
          <a:lstStyle/>
          <a:p>
            <a:endParaRPr lang="en-IN"/>
          </a:p>
        </p:txBody>
      </p:sp>
      <p:pic>
        <p:nvPicPr>
          <p:cNvPr id="3" name="Image 0" descr="preencoded.png"/>
          <p:cNvPicPr>
            <a:picLocks noChangeAspect="1"/>
          </p:cNvPicPr>
          <p:nvPr/>
        </p:nvPicPr>
        <p:blipFill>
          <a:blip r:embed="rId3">
            <a:alphaModFix amt="10000"/>
          </a:blip>
          <a:srcRect l="12327" r="12327"/>
          <a:stretch/>
        </p:blipFill>
        <p:spPr>
          <a:xfrm>
            <a:off x="0" y="0"/>
            <a:ext cx="12191695" cy="6858000"/>
          </a:xfrm>
          <a:prstGeom prst="rect">
            <a:avLst/>
          </a:prstGeom>
        </p:spPr>
      </p:pic>
      <p:sp>
        <p:nvSpPr>
          <p:cNvPr id="4" name="Shape 1"/>
          <p:cNvSpPr/>
          <p:nvPr/>
        </p:nvSpPr>
        <p:spPr>
          <a:xfrm>
            <a:off x="571500" y="286207"/>
            <a:ext cx="11048695" cy="666598"/>
          </a:xfrm>
          <a:prstGeom prst="roundRect">
            <a:avLst>
              <a:gd name="adj" fmla="val 15677"/>
            </a:avLst>
          </a:prstGeom>
          <a:solidFill>
            <a:srgbClr val="FFFFFF">
              <a:alpha val="95000"/>
            </a:srgbClr>
          </a:solidFill>
          <a:ln/>
          <a:effectLst>
            <a:outerShdw blurRad="63500" dist="38100" dir="5400000" algn="bl" rotWithShape="0">
              <a:srgbClr val="000000">
                <a:alpha val="10000"/>
              </a:srgbClr>
            </a:outerShdw>
          </a:effectLst>
        </p:spPr>
        <p:txBody>
          <a:bodyPr/>
          <a:lstStyle/>
          <a:p>
            <a:endParaRPr lang="en-IN"/>
          </a:p>
        </p:txBody>
      </p:sp>
      <p:pic>
        <p:nvPicPr>
          <p:cNvPr id="5" name="Image 1" descr="preencoded.png"/>
          <p:cNvPicPr>
            <a:picLocks noChangeAspect="1"/>
          </p:cNvPicPr>
          <p:nvPr/>
        </p:nvPicPr>
        <p:blipFill>
          <a:blip r:embed="rId4"/>
          <a:srcRect t="10" b="10"/>
          <a:stretch/>
        </p:blipFill>
        <p:spPr>
          <a:xfrm>
            <a:off x="857707" y="381305"/>
            <a:ext cx="1266444" cy="476402"/>
          </a:xfrm>
          <a:prstGeom prst="rect">
            <a:avLst/>
          </a:prstGeom>
        </p:spPr>
      </p:pic>
      <p:pic>
        <p:nvPicPr>
          <p:cNvPr id="6" name="Image 2" descr="preencoded.png"/>
          <p:cNvPicPr>
            <a:picLocks noChangeAspect="1"/>
          </p:cNvPicPr>
          <p:nvPr/>
        </p:nvPicPr>
        <p:blipFill>
          <a:blip r:embed="rId5"/>
          <a:srcRect/>
          <a:stretch/>
        </p:blipFill>
        <p:spPr>
          <a:xfrm>
            <a:off x="10858500" y="381305"/>
            <a:ext cx="476402" cy="476402"/>
          </a:xfrm>
          <a:prstGeom prst="rect">
            <a:avLst/>
          </a:prstGeom>
        </p:spPr>
      </p:pic>
      <p:sp>
        <p:nvSpPr>
          <p:cNvPr id="7" name="Shape 2"/>
          <p:cNvSpPr/>
          <p:nvPr/>
        </p:nvSpPr>
        <p:spPr>
          <a:xfrm>
            <a:off x="571500" y="1333195"/>
            <a:ext cx="75895" cy="409651"/>
          </a:xfrm>
          <a:prstGeom prst="rect">
            <a:avLst/>
          </a:prstGeom>
          <a:solidFill>
            <a:srgbClr val="88E555"/>
          </a:solidFill>
          <a:ln/>
        </p:spPr>
        <p:txBody>
          <a:bodyPr/>
          <a:lstStyle/>
          <a:p>
            <a:endParaRPr lang="en-IN"/>
          </a:p>
        </p:txBody>
      </p:sp>
      <p:sp>
        <p:nvSpPr>
          <p:cNvPr id="8" name="Text 3"/>
          <p:cNvSpPr txBox="1"/>
          <p:nvPr/>
        </p:nvSpPr>
        <p:spPr>
          <a:xfrm>
            <a:off x="838505" y="1295705"/>
            <a:ext cx="3728923" cy="467258"/>
          </a:xfrm>
          <a:prstGeom prst="rect">
            <a:avLst/>
          </a:prstGeom>
          <a:noFill/>
          <a:ln/>
        </p:spPr>
        <p:txBody>
          <a:bodyPr wrap="square" lIns="0" tIns="0" rIns="0" bIns="0" rtlCol="0" anchor="ctr"/>
          <a:lstStyle/>
          <a:p>
            <a:pPr marL="0" indent="0" algn="l">
              <a:buNone/>
            </a:pPr>
            <a:r>
              <a:rPr lang="en-US" sz="2600" b="1" dirty="0">
                <a:solidFill>
                  <a:srgbClr val="FFFFFF"/>
                </a:solidFill>
                <a:latin typeface="Poppins" pitchFamily="34" charset="0"/>
                <a:ea typeface="Poppins" pitchFamily="34" charset="-122"/>
                <a:cs typeface="Poppins" pitchFamily="34" charset="-120"/>
              </a:rPr>
              <a:t>Impact and Benefits</a:t>
            </a:r>
            <a:endParaRPr lang="en-US" sz="2600" dirty="0"/>
          </a:p>
        </p:txBody>
      </p:sp>
      <p:sp>
        <p:nvSpPr>
          <p:cNvPr id="9" name="Shape 4"/>
          <p:cNvSpPr/>
          <p:nvPr/>
        </p:nvSpPr>
        <p:spPr>
          <a:xfrm>
            <a:off x="571500" y="2021738"/>
            <a:ext cx="11048695" cy="4552798"/>
          </a:xfrm>
          <a:prstGeom prst="roundRect">
            <a:avLst>
              <a:gd name="adj" fmla="val 672"/>
            </a:avLst>
          </a:prstGeom>
          <a:solidFill>
            <a:srgbClr val="FFFFFF">
              <a:alpha val="5000"/>
            </a:srgbClr>
          </a:solidFill>
          <a:ln w="12700">
            <a:solidFill>
              <a:srgbClr val="88E555">
                <a:alpha val="30000"/>
              </a:srgbClr>
            </a:solidFill>
            <a:prstDash val="solid"/>
          </a:ln>
        </p:spPr>
        <p:txBody>
          <a:bodyPr/>
          <a:lstStyle/>
          <a:p>
            <a:endParaRPr lang="en-IN"/>
          </a:p>
        </p:txBody>
      </p:sp>
      <p:sp>
        <p:nvSpPr>
          <p:cNvPr id="10" name="Shape 5"/>
          <p:cNvSpPr/>
          <p:nvPr/>
        </p:nvSpPr>
        <p:spPr>
          <a:xfrm>
            <a:off x="571500" y="2021738"/>
            <a:ext cx="190195" cy="190195"/>
          </a:xfrm>
          <a:prstGeom prst="roundRect">
            <a:avLst>
              <a:gd name="adj" fmla="val 192308"/>
            </a:avLst>
          </a:prstGeom>
          <a:noFill/>
          <a:ln w="38100">
            <a:solidFill>
              <a:srgbClr val="88E555"/>
            </a:solidFill>
            <a:prstDash val="solid"/>
          </a:ln>
        </p:spPr>
        <p:txBody>
          <a:bodyPr/>
          <a:lstStyle/>
          <a:p>
            <a:endParaRPr lang="en-IN"/>
          </a:p>
        </p:txBody>
      </p:sp>
      <p:sp>
        <p:nvSpPr>
          <p:cNvPr id="11" name="Shape 6"/>
          <p:cNvSpPr/>
          <p:nvPr/>
        </p:nvSpPr>
        <p:spPr>
          <a:xfrm>
            <a:off x="11430000" y="2021738"/>
            <a:ext cx="190195" cy="190195"/>
          </a:xfrm>
          <a:prstGeom prst="rect">
            <a:avLst/>
          </a:prstGeom>
          <a:noFill/>
          <a:ln w="38100">
            <a:solidFill>
              <a:srgbClr val="88E555"/>
            </a:solidFill>
            <a:prstDash val="solid"/>
          </a:ln>
        </p:spPr>
        <p:txBody>
          <a:bodyPr/>
          <a:lstStyle/>
          <a:p>
            <a:endParaRPr lang="en-IN"/>
          </a:p>
        </p:txBody>
      </p:sp>
      <p:sp>
        <p:nvSpPr>
          <p:cNvPr id="12" name="Shape 7"/>
          <p:cNvSpPr/>
          <p:nvPr/>
        </p:nvSpPr>
        <p:spPr>
          <a:xfrm>
            <a:off x="571500" y="6381598"/>
            <a:ext cx="190195" cy="190195"/>
          </a:xfrm>
          <a:prstGeom prst="rect">
            <a:avLst/>
          </a:prstGeom>
          <a:noFill/>
          <a:ln w="38100">
            <a:solidFill>
              <a:srgbClr val="88E555"/>
            </a:solidFill>
            <a:prstDash val="solid"/>
          </a:ln>
        </p:spPr>
        <p:txBody>
          <a:bodyPr/>
          <a:lstStyle/>
          <a:p>
            <a:endParaRPr lang="en-IN"/>
          </a:p>
        </p:txBody>
      </p:sp>
      <p:sp>
        <p:nvSpPr>
          <p:cNvPr id="13" name="Shape 8"/>
          <p:cNvSpPr/>
          <p:nvPr/>
        </p:nvSpPr>
        <p:spPr>
          <a:xfrm>
            <a:off x="11430000" y="6381598"/>
            <a:ext cx="190195" cy="190195"/>
          </a:xfrm>
          <a:prstGeom prst="rect">
            <a:avLst/>
          </a:prstGeom>
          <a:noFill/>
          <a:ln w="38100">
            <a:solidFill>
              <a:srgbClr val="88E555"/>
            </a:solidFill>
            <a:prstDash val="solid"/>
          </a:ln>
        </p:spPr>
        <p:txBody>
          <a:bodyPr/>
          <a:lstStyle/>
          <a:p>
            <a:endParaRPr lang="en-IN"/>
          </a:p>
        </p:txBody>
      </p:sp>
      <p:sp>
        <p:nvSpPr>
          <p:cNvPr id="14" name="Shape 9"/>
          <p:cNvSpPr/>
          <p:nvPr/>
        </p:nvSpPr>
        <p:spPr>
          <a:xfrm>
            <a:off x="961949" y="2212848"/>
            <a:ext cx="571500" cy="571500"/>
          </a:xfrm>
          <a:prstGeom prst="ellipse">
            <a:avLst/>
          </a:prstGeom>
          <a:solidFill>
            <a:srgbClr val="273383">
              <a:alpha val="50000"/>
            </a:srgbClr>
          </a:solidFill>
          <a:ln w="25400">
            <a:solidFill>
              <a:srgbClr val="AEFF82"/>
            </a:solidFill>
            <a:prstDash val="solid"/>
          </a:ln>
        </p:spPr>
        <p:txBody>
          <a:bodyPr/>
          <a:lstStyle/>
          <a:p>
            <a:endParaRPr lang="en-IN"/>
          </a:p>
        </p:txBody>
      </p:sp>
      <p:pic>
        <p:nvPicPr>
          <p:cNvPr id="15" name="Image 3" descr="preencoded.png"/>
          <p:cNvPicPr>
            <a:picLocks noChangeAspect="1"/>
          </p:cNvPicPr>
          <p:nvPr/>
        </p:nvPicPr>
        <p:blipFill>
          <a:blip r:embed="rId6"/>
          <a:srcRect/>
          <a:stretch/>
        </p:blipFill>
        <p:spPr>
          <a:xfrm>
            <a:off x="1133856" y="2386584"/>
            <a:ext cx="228600" cy="228600"/>
          </a:xfrm>
          <a:prstGeom prst="rect">
            <a:avLst/>
          </a:prstGeom>
        </p:spPr>
      </p:pic>
      <p:sp>
        <p:nvSpPr>
          <p:cNvPr id="16" name="Text 10"/>
          <p:cNvSpPr txBox="1"/>
          <p:nvPr/>
        </p:nvSpPr>
        <p:spPr>
          <a:xfrm>
            <a:off x="1627632" y="2240280"/>
            <a:ext cx="9418320" cy="384048"/>
          </a:xfrm>
          <a:prstGeom prst="rect">
            <a:avLst/>
          </a:prstGeom>
          <a:noFill/>
          <a:ln/>
        </p:spPr>
        <p:txBody>
          <a:bodyPr wrap="square" lIns="0" tIns="0" rIns="0" bIns="0" rtlCol="0" anchor="ctr"/>
          <a:lstStyle/>
          <a:p>
            <a:pPr marL="0" indent="0" algn="l"/>
            <a:r>
              <a:rPr lang="en-US" sz="1600" dirty="0" i="0">
                <a:solidFill>
                  <a:srgbClr val="AEFF82">
                    <a:alpha val="80000"/>
                  </a:srgbClr>
                </a:solidFill>
                <a:latin typeface="Poppins" pitchFamily="34" charset="0"/>
                <a:ea typeface="Poppins" pitchFamily="34" charset="-122"/>
                <a:cs typeface="Poppins" pitchFamily="34" charset="-120"/>
              </a:rPr>
              <a:t>Sharper images mean defects are caught earlier — with no change to the optical tool.</a:t>
            </a:r>
            <a:endParaRPr lang="en-US" sz="1800" dirty="0"/>
          </a:p>
        </p:txBody>
      </p:sp>
      <p:sp>
        <p:nvSpPr>
          <p:cNvPr id="17" name="Shape 11"/>
          <p:cNvSpPr/>
          <p:nvPr/>
        </p:nvSpPr>
        <p:spPr>
          <a:xfrm>
            <a:off x="960120" y="2788920"/>
            <a:ext cx="5020056" cy="1143000"/>
          </a:xfrm>
          <a:prstGeom prst="roundRect">
            <a:avLst>
              <a:gd name="adj" fmla="val 4836"/>
            </a:avLst>
          </a:prstGeom>
          <a:solidFill>
            <a:srgbClr val="1E3A8A">
              <a:alpha val="40000"/>
            </a:srgbClr>
          </a:solidFill>
          <a:ln w="12700">
            <a:solidFill>
              <a:srgbClr val="1D4ED8"/>
            </a:solidFill>
            <a:prstDash val="solid"/>
          </a:ln>
        </p:spPr>
        <p:txBody>
          <a:bodyPr/>
          <a:lstStyle/>
          <a:p>
            <a:endParaRPr lang="en-IN"/>
          </a:p>
        </p:txBody>
      </p:sp>
      <p:pic>
        <p:nvPicPr>
          <p:cNvPr id="18" name="Image 4" descr="preencoded.png"/>
          <p:cNvPicPr>
            <a:picLocks noChangeAspect="1"/>
          </p:cNvPicPr>
          <p:nvPr/>
        </p:nvPicPr>
        <p:blipFill>
          <a:blip r:embed="rId7"/>
          <a:srcRect/>
          <a:stretch/>
        </p:blipFill>
        <p:spPr>
          <a:xfrm>
            <a:off x="1197864" y="3026664"/>
            <a:ext cx="152705" cy="152705"/>
          </a:xfrm>
          <a:prstGeom prst="rect">
            <a:avLst/>
          </a:prstGeom>
        </p:spPr>
      </p:pic>
      <p:sp>
        <p:nvSpPr>
          <p:cNvPr id="19" name="Text 12"/>
          <p:cNvSpPr txBox="1"/>
          <p:nvPr/>
        </p:nvSpPr>
        <p:spPr>
          <a:xfrm>
            <a:off x="1463040" y="2990088"/>
            <a:ext cx="1324051" cy="219456"/>
          </a:xfrm>
          <a:prstGeom prst="rect">
            <a:avLst/>
          </a:prstGeom>
          <a:noFill/>
          <a:ln/>
        </p:spPr>
        <p:txBody>
          <a:bodyPr wrap="square" lIns="0" tIns="0" rIns="0" bIns="0" rtlCol="0" anchor="ctr"/>
          <a:lstStyle/>
          <a:p>
            <a:pPr marL="0" indent="0" algn="l">
              <a:buNone/>
            </a:pPr>
            <a:r>
              <a:rPr lang="en-US" sz="1200" b="1" dirty="0">
                <a:solidFill>
                  <a:srgbClr val="FFFFFF"/>
                </a:solidFill>
                <a:latin typeface="Poppins" pitchFamily="34" charset="0"/>
                <a:ea typeface="Poppins" pitchFamily="34" charset="-122"/>
                <a:cs typeface="Poppins" pitchFamily="34" charset="-120"/>
              </a:rPr>
              <a:t>Primary Impact</a:t>
            </a:r>
            <a:endParaRPr lang="en-US" sz="1200" dirty="0"/>
          </a:p>
        </p:txBody>
      </p:sp>
      <p:sp>
        <p:nvSpPr>
          <p:cNvPr id="20" name="Text 13"/>
          <p:cNvSpPr txBox="1"/>
          <p:nvPr/>
        </p:nvSpPr>
        <p:spPr>
          <a:xfrm>
            <a:off x="1197864" y="3291840"/>
            <a:ext cx="4480560" cy="548640"/>
          </a:xfrm>
          <a:prstGeom prst="rect">
            <a:avLst/>
          </a:prstGeom>
          <a:noFill/>
          <a:ln/>
        </p:spPr>
        <p:txBody>
          <a:bodyPr wrap="square" lIns="0" tIns="0" rIns="0" bIns="0" rtlCol="0" anchor="t"/>
          <a:lstStyle/>
          <a:p>
            <a:pPr marL="155448" indent="-155448" algn="l">
              <a:buFont typeface="Arial"/>
              <a:buChar char="•"/>
            </a:pPr>
            <a:r>
              <a:rPr lang="en-US" sz="1000" dirty="0" i="0">
                <a:solidFill>
                  <a:srgbClr val="D1D5DB"/>
                </a:solidFill>
                <a:latin typeface="Poppins" pitchFamily="34" charset="0"/>
                <a:ea typeface="Poppins" pitchFamily="34" charset="-122"/>
                <a:cs typeface="Poppins" pitchFamily="34" charset="-120"/>
              </a:rPr>
              <a:t>Defects hidden by speckle become visible again.</a:t>
            </a:r>
            <a:endParaRPr lang="en-US" sz="1000" dirty="0"/>
          </a:p>
          <a:p>
            <a:pPr marL="155448" indent="-155448" algn="l">
              <a:spcBef>
                <a:spcPts val="200"/>
              </a:spcBef>
              <a:buFont typeface="Arial"/>
              <a:buChar char="•"/>
            </a:pPr>
            <a:r>
              <a:rPr lang="en-US" sz="1000" dirty="0" i="0">
                <a:solidFill>
                  <a:srgbClr val="D1D5DB"/>
                </a:solidFill>
                <a:latin typeface="Poppins" pitchFamily="34" charset="0"/>
                <a:ea typeface="Poppins" pitchFamily="34" charset="-122"/>
                <a:cs typeface="Poppins" pitchFamily="34" charset="-120"/>
              </a:rPr>
              <a:t>Doubles usable resolution from existing scans.</a:t>
            </a:r>
            <a:endParaRPr lang="en-US" sz="1000" dirty="0"/>
          </a:p>
          <a:p>
            <a:pPr marL="155448" indent="-155448" algn="l">
              <a:spcBef>
                <a:spcPts val="200"/>
              </a:spcBef>
              <a:buFont typeface="Arial"/>
              <a:buChar char="•"/>
            </a:pPr>
            <a:r>
              <a:rPr lang="en-US" sz="1000" dirty="0" i="0">
                <a:solidFill>
                  <a:srgbClr val="D1D5DB"/>
                </a:solidFill>
                <a:latin typeface="Poppins" pitchFamily="34" charset="0"/>
                <a:ea typeface="Poppins" pitchFamily="34" charset="-122"/>
                <a:cs typeface="Poppins" pitchFamily="34" charset="-120"/>
              </a:rPr>
              <a:t>No optics, sensor or tool changes required.</a:t>
            </a:r>
            <a:endParaRPr lang="en-US" sz="1000" dirty="0"/>
          </a:p>
        </p:txBody>
      </p:sp>
      <p:sp>
        <p:nvSpPr>
          <p:cNvPr id="21" name="Shape 14"/>
          <p:cNvSpPr/>
          <p:nvPr/>
        </p:nvSpPr>
        <p:spPr>
          <a:xfrm>
            <a:off x="6208776" y="2788920"/>
            <a:ext cx="5020056" cy="1143000"/>
          </a:xfrm>
          <a:prstGeom prst="roundRect">
            <a:avLst>
              <a:gd name="adj" fmla="val 4836"/>
            </a:avLst>
          </a:prstGeom>
          <a:solidFill>
            <a:srgbClr val="1E3A8A">
              <a:alpha val="40000"/>
            </a:srgbClr>
          </a:solidFill>
          <a:ln w="12700">
            <a:solidFill>
              <a:srgbClr val="1D4ED8"/>
            </a:solidFill>
            <a:prstDash val="solid"/>
          </a:ln>
        </p:spPr>
        <p:txBody>
          <a:bodyPr/>
          <a:lstStyle/>
          <a:p>
            <a:endParaRPr lang="en-IN"/>
          </a:p>
        </p:txBody>
      </p:sp>
      <p:pic>
        <p:nvPicPr>
          <p:cNvPr id="22" name="Image 5" descr="preencoded.png"/>
          <p:cNvPicPr>
            <a:picLocks noChangeAspect="1"/>
          </p:cNvPicPr>
          <p:nvPr/>
        </p:nvPicPr>
        <p:blipFill>
          <a:blip r:embed="rId8"/>
          <a:srcRect l="-33" r="-33"/>
          <a:stretch/>
        </p:blipFill>
        <p:spPr>
          <a:xfrm>
            <a:off x="6446520" y="3026664"/>
            <a:ext cx="171907" cy="152705"/>
          </a:xfrm>
          <a:prstGeom prst="rect">
            <a:avLst/>
          </a:prstGeom>
        </p:spPr>
      </p:pic>
      <p:sp>
        <p:nvSpPr>
          <p:cNvPr id="23" name="Text 15"/>
          <p:cNvSpPr txBox="1"/>
          <p:nvPr/>
        </p:nvSpPr>
        <p:spPr>
          <a:xfrm>
            <a:off x="6739128" y="2990088"/>
            <a:ext cx="1924812" cy="219456"/>
          </a:xfrm>
          <a:prstGeom prst="rect">
            <a:avLst/>
          </a:prstGeom>
          <a:noFill/>
          <a:ln/>
        </p:spPr>
        <p:txBody>
          <a:bodyPr wrap="square" lIns="0" tIns="0" rIns="0" bIns="0" rtlCol="0" anchor="ctr"/>
          <a:lstStyle/>
          <a:p>
            <a:pPr marL="0" indent="0" algn="l">
              <a:buNone/>
            </a:pPr>
            <a:r>
              <a:rPr lang="en-US" sz="1200" b="1" dirty="0">
                <a:solidFill>
                  <a:srgbClr val="FFFFFF"/>
                </a:solidFill>
                <a:latin typeface="Poppins" pitchFamily="34" charset="0"/>
                <a:ea typeface="Poppins" pitchFamily="34" charset="-122"/>
                <a:cs typeface="Poppins" pitchFamily="34" charset="-120"/>
              </a:rPr>
              <a:t>Quantifiable Outcomes</a:t>
            </a:r>
            <a:endParaRPr lang="en-US" sz="1200" dirty="0"/>
          </a:p>
        </p:txBody>
      </p:sp>
      <p:sp>
        <p:nvSpPr>
          <p:cNvPr id="24" name="Text 16"/>
          <p:cNvSpPr txBox="1"/>
          <p:nvPr/>
        </p:nvSpPr>
        <p:spPr>
          <a:xfrm>
            <a:off x="6446520" y="3291840"/>
            <a:ext cx="4480560" cy="548640"/>
          </a:xfrm>
          <a:prstGeom prst="rect">
            <a:avLst/>
          </a:prstGeom>
          <a:noFill/>
          <a:ln/>
        </p:spPr>
        <p:txBody>
          <a:bodyPr wrap="square" lIns="0" tIns="0" rIns="0" bIns="0" rtlCol="0" anchor="t"/>
          <a:lstStyle/>
          <a:p>
            <a:pPr marL="155448" indent="-155448" algn="l">
              <a:buFont typeface="Arial"/>
              <a:buChar char="•"/>
            </a:pPr>
            <a:r>
              <a:rPr lang="en-US" sz="1000" dirty="0" i="0">
                <a:solidFill>
                  <a:srgbClr val="D1D5DB"/>
                </a:solidFill>
                <a:latin typeface="Poppins" pitchFamily="34" charset="0"/>
                <a:ea typeface="Poppins" pitchFamily="34" charset="-122"/>
                <a:cs typeface="Poppins" pitchFamily="34" charset="-120"/>
              </a:rPr>
              <a:t>PSNR 24.88 → 29.15 dB (+4.27 dB) on 480 wafers.</a:t>
            </a:r>
            <a:endParaRPr lang="en-US" sz="1000" dirty="0"/>
          </a:p>
          <a:p>
            <a:pPr marL="155448" indent="-155448" algn="l">
              <a:spcBef>
                <a:spcPts val="200"/>
              </a:spcBef>
              <a:buFont typeface="Arial"/>
              <a:buChar char="•"/>
            </a:pPr>
            <a:r>
              <a:rPr lang="en-US" sz="1000" dirty="0" i="0">
                <a:solidFill>
                  <a:srgbClr val="D1D5DB"/>
                </a:solidFill>
                <a:latin typeface="Poppins" pitchFamily="34" charset="0"/>
                <a:ea typeface="Poppins" pitchFamily="34" charset="-122"/>
                <a:cs typeface="Poppins" pitchFamily="34" charset="-120"/>
              </a:rPr>
              <a:t>SSIM 0.797 → 0.825; peak wafer 35.76 dB / 0.957.</a:t>
            </a:r>
            <a:endParaRPr lang="en-US" sz="1000" dirty="0"/>
          </a:p>
          <a:p>
            <a:pPr marL="155448" indent="-155448" algn="l">
              <a:spcBef>
                <a:spcPts val="200"/>
              </a:spcBef>
              <a:buFont typeface="Arial"/>
              <a:buChar char="•"/>
            </a:pPr>
            <a:r>
              <a:rPr lang="en-US" sz="1000" dirty="0" i="0">
                <a:solidFill>
                  <a:srgbClr val="D1D5DB"/>
                </a:solidFill>
                <a:latin typeface="Poppins" pitchFamily="34" charset="0"/>
                <a:ea typeface="Poppins" pitchFamily="34" charset="-122"/>
                <a:cs typeface="Poppins" pitchFamily="34" charset="-120"/>
              </a:rPr>
              <a:t>~0.45 s per image · 8.19 M params · 126 MiB model.</a:t>
            </a:r>
            <a:endParaRPr lang="en-US" sz="1000" dirty="0"/>
          </a:p>
        </p:txBody>
      </p:sp>
      <p:pic>
        <p:nvPicPr>
          <p:cNvPr id="25" name="Picture 24">
            <a:extLst>
              <a:ext uri="{FF2B5EF4-FFF2-40B4-BE49-F238E27FC236}">
                <a16:creationId xmlns:a16="http://schemas.microsoft.com/office/drawing/2014/main" id="{C2A87E08-9934-FBF2-2F29-11A8271B362B}"/>
              </a:ext>
            </a:extLst>
          </p:cNvPr>
          <p:cNvPicPr>
            <a:picLocks noChangeAspect="1"/>
          </p:cNvPicPr>
          <p:nvPr/>
        </p:nvPicPr>
        <p:blipFill>
          <a:blip r:embed="rId9"/>
          <a:stretch>
            <a:fillRect/>
          </a:stretch>
        </p:blipFill>
        <p:spPr>
          <a:xfrm>
            <a:off x="5406922" y="227710"/>
            <a:ext cx="1607366" cy="783591"/>
          </a:xfrm>
          <a:prstGeom prst="rect">
            <a:avLst/>
          </a:prstGeom>
        </p:spPr>
      </p:pic>
      <p:sp>
        <p:nvSpPr>
          <p:cNvPr id="27" name="Shape 1">
            <a:extLst>
              <a:ext uri="{FF2B5EF4-FFF2-40B4-BE49-F238E27FC236}">
                <a16:creationId xmlns:a16="http://schemas.microsoft.com/office/drawing/2014/main" id="{850BA2BE-D607-619F-6960-A71277019D3B}"/>
              </a:ext>
            </a:extLst>
          </p:cNvPr>
          <p:cNvSpPr/>
          <p:nvPr/>
        </p:nvSpPr>
        <p:spPr>
          <a:xfrm>
            <a:off x="571500" y="209602"/>
            <a:ext cx="11048695" cy="857707"/>
          </a:xfrm>
          <a:prstGeom prst="roundRect">
            <a:avLst>
              <a:gd name="adj" fmla="val 9476"/>
            </a:avLst>
          </a:prstGeom>
          <a:solidFill>
            <a:srgbClr val="FFFFFF">
              <a:alpha val="95000"/>
            </a:srgbClr>
          </a:solidFill>
          <a:ln/>
          <a:effectLst>
            <a:outerShdw blurRad="63500" dist="38100" dir="5400000" algn="bl" rotWithShape="0">
              <a:srgbClr val="000000">
                <a:alpha val="10000"/>
              </a:srgbClr>
            </a:outerShdw>
          </a:effectLst>
        </p:spPr>
        <p:txBody>
          <a:bodyPr/>
          <a:lstStyle/>
          <a:p>
            <a:endParaRPr lang="en-IN"/>
          </a:p>
        </p:txBody>
      </p:sp>
      <p:pic>
        <p:nvPicPr>
          <p:cNvPr id="28" name="Picture 27">
            <a:extLst>
              <a:ext uri="{FF2B5EF4-FFF2-40B4-BE49-F238E27FC236}">
                <a16:creationId xmlns:a16="http://schemas.microsoft.com/office/drawing/2014/main" id="{C5D3E59C-FE74-F0BE-9B10-98C8003398BC}"/>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628859" y="329389"/>
            <a:ext cx="9163491" cy="586435"/>
          </a:xfrm>
          <a:prstGeom prst="rect">
            <a:avLst/>
          </a:prstGeom>
        </p:spPr>
      </p:pic>
      <p:sp>
        <p:nvSpPr>
          <p:cNvPr id="29" name="TextBox 28"/>
          <p:cNvSpPr txBox="1"/>
          <p:nvPr/>
        </p:nvSpPr>
        <p:spPr>
          <a:xfrm>
            <a:off x="1055581" y="4005072"/>
            <a:ext cx="2377440" cy="219456"/>
          </a:xfrm>
          <a:prstGeom prst="rect">
            <a:avLst/>
          </a:prstGeom>
          <a:noFill/>
        </p:spPr>
        <p:txBody>
          <a:bodyPr wrap="square" lIns="0" rIns="0" tIns="0" bIns="0" anchor="t">
            <a:spAutoFit/>
          </a:bodyPr>
          <a:lstStyle/>
          <a:p>
            <a:pPr algn="ctr"/>
            <a:r>
              <a:rPr sz="950" b="0">
                <a:solidFill>
                  <a:srgbClr val="D1D5DB"/>
                </a:solidFill>
                <a:latin typeface="Poppins"/>
              </a:rPr>
              <a:t>Degraded input (128×128)</a:t>
            </a:r>
          </a:p>
        </p:txBody>
      </p:sp>
      <p:sp>
        <p:nvSpPr>
          <p:cNvPr id="30" name="TextBox 29"/>
          <p:cNvSpPr txBox="1"/>
          <p:nvPr/>
        </p:nvSpPr>
        <p:spPr>
          <a:xfrm>
            <a:off x="3623042" y="4005072"/>
            <a:ext cx="2377440" cy="219456"/>
          </a:xfrm>
          <a:prstGeom prst="rect">
            <a:avLst/>
          </a:prstGeom>
          <a:noFill/>
        </p:spPr>
        <p:txBody>
          <a:bodyPr wrap="square" lIns="0" rIns="0" tIns="0" bIns="0" anchor="t">
            <a:spAutoFit/>
          </a:bodyPr>
          <a:lstStyle/>
          <a:p>
            <a:pPr algn="ctr"/>
            <a:r>
              <a:rPr sz="950" b="0">
                <a:solidFill>
                  <a:srgbClr val="D1D5DB"/>
                </a:solidFill>
                <a:latin typeface="Poppins"/>
              </a:rPr>
              <a:t>Clean reference</a:t>
            </a:r>
          </a:p>
        </p:txBody>
      </p:sp>
      <p:sp>
        <p:nvSpPr>
          <p:cNvPr id="31" name="TextBox 30"/>
          <p:cNvSpPr txBox="1"/>
          <p:nvPr/>
        </p:nvSpPr>
        <p:spPr>
          <a:xfrm>
            <a:off x="6189518" y="4005072"/>
            <a:ext cx="2377440" cy="219456"/>
          </a:xfrm>
          <a:prstGeom prst="rect">
            <a:avLst/>
          </a:prstGeom>
          <a:noFill/>
        </p:spPr>
        <p:txBody>
          <a:bodyPr wrap="square" lIns="0" rIns="0" tIns="0" bIns="0" anchor="t">
            <a:spAutoFit/>
          </a:bodyPr>
          <a:lstStyle/>
          <a:p>
            <a:pPr algn="ctr"/>
            <a:r>
              <a:rPr sz="950" b="1">
                <a:solidFill>
                  <a:srgbClr val="AEFF82"/>
                </a:solidFill>
                <a:latin typeface="Poppins"/>
              </a:rPr>
              <a:t>ContextNAFNet output (256×256)</a:t>
            </a:r>
          </a:p>
        </p:txBody>
      </p:sp>
      <p:sp>
        <p:nvSpPr>
          <p:cNvPr id="32" name="TextBox 31"/>
          <p:cNvSpPr txBox="1"/>
          <p:nvPr/>
        </p:nvSpPr>
        <p:spPr>
          <a:xfrm>
            <a:off x="8756979" y="4005072"/>
            <a:ext cx="2377440" cy="219456"/>
          </a:xfrm>
          <a:prstGeom prst="rect">
            <a:avLst/>
          </a:prstGeom>
          <a:noFill/>
        </p:spPr>
        <p:txBody>
          <a:bodyPr wrap="square" lIns="0" rIns="0" tIns="0" bIns="0" anchor="t">
            <a:spAutoFit/>
          </a:bodyPr>
          <a:lstStyle/>
          <a:p>
            <a:pPr algn="ctr"/>
            <a:r>
              <a:rPr sz="950" b="0">
                <a:solidFill>
                  <a:srgbClr val="D1D5DB"/>
                </a:solidFill>
                <a:latin typeface="Poppins"/>
              </a:rPr>
              <a:t>Residual error map</a:t>
            </a:r>
          </a:p>
        </p:txBody>
      </p:sp>
      <p:sp>
        <p:nvSpPr>
          <p:cNvPr id="33" name="Rounded Rectangle 32"/>
          <p:cNvSpPr/>
          <p:nvPr/>
        </p:nvSpPr>
        <p:spPr>
          <a:xfrm>
            <a:off x="1111584" y="4197096"/>
            <a:ext cx="9968799" cy="2276856"/>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4" name="Picture 33" descr="strip_crop.png"/>
          <p:cNvPicPr>
            <a:picLocks noChangeAspect="1"/>
          </p:cNvPicPr>
          <p:nvPr/>
        </p:nvPicPr>
        <p:blipFill>
          <a:blip r:embed="rId11"/>
          <a:stretch>
            <a:fillRect/>
          </a:stretch>
        </p:blipFill>
        <p:spPr>
          <a:xfrm>
            <a:off x="1175592" y="4261104"/>
            <a:ext cx="9840783" cy="214884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00036"/>
          </a:solidFill>
          <a:ln/>
        </p:spPr>
        <p:txBody>
          <a:bodyPr/>
          <a:lstStyle/>
          <a:p>
            <a:endParaRPr lang="en-IN"/>
          </a:p>
        </p:txBody>
      </p:sp>
      <p:pic>
        <p:nvPicPr>
          <p:cNvPr id="3" name="Image 0" descr="preencoded.png"/>
          <p:cNvPicPr>
            <a:picLocks noChangeAspect="1"/>
          </p:cNvPicPr>
          <p:nvPr/>
        </p:nvPicPr>
        <p:blipFill>
          <a:blip r:embed="rId3">
            <a:alphaModFix amt="10000"/>
          </a:blip>
          <a:srcRect l="12327" r="12327"/>
          <a:stretch/>
        </p:blipFill>
        <p:spPr>
          <a:xfrm>
            <a:off x="0" y="0"/>
            <a:ext cx="12191695" cy="6858000"/>
          </a:xfrm>
          <a:prstGeom prst="rect">
            <a:avLst/>
          </a:prstGeom>
        </p:spPr>
      </p:pic>
      <p:sp>
        <p:nvSpPr>
          <p:cNvPr id="4" name="Shape 1"/>
          <p:cNvSpPr/>
          <p:nvPr/>
        </p:nvSpPr>
        <p:spPr>
          <a:xfrm>
            <a:off x="571500" y="286207"/>
            <a:ext cx="11048695" cy="666598"/>
          </a:xfrm>
          <a:prstGeom prst="roundRect">
            <a:avLst>
              <a:gd name="adj" fmla="val 15677"/>
            </a:avLst>
          </a:prstGeom>
          <a:solidFill>
            <a:srgbClr val="FFFFFF">
              <a:alpha val="95000"/>
            </a:srgbClr>
          </a:solidFill>
          <a:ln/>
          <a:effectLst>
            <a:outerShdw blurRad="63500" dist="38100" dir="5400000" algn="bl" rotWithShape="0">
              <a:srgbClr val="000000">
                <a:alpha val="10000"/>
              </a:srgbClr>
            </a:outerShdw>
          </a:effectLst>
        </p:spPr>
        <p:txBody>
          <a:bodyPr/>
          <a:lstStyle/>
          <a:p>
            <a:endParaRPr lang="en-IN"/>
          </a:p>
        </p:txBody>
      </p:sp>
      <p:pic>
        <p:nvPicPr>
          <p:cNvPr id="5" name="Image 1" descr="preencoded.png"/>
          <p:cNvPicPr>
            <a:picLocks noChangeAspect="1"/>
          </p:cNvPicPr>
          <p:nvPr/>
        </p:nvPicPr>
        <p:blipFill>
          <a:blip r:embed="rId4"/>
          <a:srcRect t="10" b="10"/>
          <a:stretch/>
        </p:blipFill>
        <p:spPr>
          <a:xfrm>
            <a:off x="857707" y="381305"/>
            <a:ext cx="1266444" cy="476402"/>
          </a:xfrm>
          <a:prstGeom prst="rect">
            <a:avLst/>
          </a:prstGeom>
        </p:spPr>
      </p:pic>
      <p:pic>
        <p:nvPicPr>
          <p:cNvPr id="6" name="Image 2" descr="preencoded.png"/>
          <p:cNvPicPr>
            <a:picLocks noChangeAspect="1"/>
          </p:cNvPicPr>
          <p:nvPr/>
        </p:nvPicPr>
        <p:blipFill>
          <a:blip r:embed="rId5"/>
          <a:srcRect/>
          <a:stretch/>
        </p:blipFill>
        <p:spPr>
          <a:xfrm>
            <a:off x="10858500" y="381305"/>
            <a:ext cx="476402" cy="476402"/>
          </a:xfrm>
          <a:prstGeom prst="rect">
            <a:avLst/>
          </a:prstGeom>
        </p:spPr>
      </p:pic>
      <p:sp>
        <p:nvSpPr>
          <p:cNvPr id="7" name="Shape 2"/>
          <p:cNvSpPr/>
          <p:nvPr/>
        </p:nvSpPr>
        <p:spPr>
          <a:xfrm>
            <a:off x="571500" y="1238098"/>
            <a:ext cx="75895" cy="409651"/>
          </a:xfrm>
          <a:prstGeom prst="rect">
            <a:avLst/>
          </a:prstGeom>
          <a:solidFill>
            <a:srgbClr val="88E555"/>
          </a:solidFill>
          <a:ln/>
        </p:spPr>
        <p:txBody>
          <a:bodyPr/>
          <a:lstStyle/>
          <a:p>
            <a:endParaRPr lang="en-IN"/>
          </a:p>
        </p:txBody>
      </p:sp>
      <p:sp>
        <p:nvSpPr>
          <p:cNvPr id="8" name="Text 3"/>
          <p:cNvSpPr txBox="1"/>
          <p:nvPr/>
        </p:nvSpPr>
        <p:spPr>
          <a:xfrm>
            <a:off x="838505" y="1200607"/>
            <a:ext cx="7824521" cy="467258"/>
          </a:xfrm>
          <a:prstGeom prst="rect">
            <a:avLst/>
          </a:prstGeom>
          <a:noFill/>
          <a:ln/>
        </p:spPr>
        <p:txBody>
          <a:bodyPr wrap="square" lIns="0" tIns="0" rIns="0" bIns="0" rtlCol="0" anchor="ctr"/>
          <a:lstStyle/>
          <a:p>
            <a:pPr marL="0" indent="0" algn="l">
              <a:buNone/>
            </a:pPr>
            <a:r>
              <a:rPr lang="en-US" sz="2600" b="1" dirty="0">
                <a:solidFill>
                  <a:srgbClr val="FFFFFF"/>
                </a:solidFill>
                <a:latin typeface="Poppins" pitchFamily="34" charset="0"/>
                <a:ea typeface="Poppins" pitchFamily="34" charset="-122"/>
                <a:cs typeface="Poppins" pitchFamily="34" charset="-120"/>
              </a:rPr>
              <a:t>Technology &amp; Feasibility/Methodology Used</a:t>
            </a:r>
            <a:endParaRPr lang="en-US" sz="2600" dirty="0"/>
          </a:p>
        </p:txBody>
      </p:sp>
      <p:sp>
        <p:nvSpPr>
          <p:cNvPr id="9" name="Shape 4"/>
          <p:cNvSpPr/>
          <p:nvPr/>
        </p:nvSpPr>
        <p:spPr>
          <a:xfrm>
            <a:off x="571500" y="1879092"/>
            <a:ext cx="11048695" cy="4695444"/>
          </a:xfrm>
          <a:prstGeom prst="roundRect">
            <a:avLst>
              <a:gd name="adj" fmla="val 632"/>
            </a:avLst>
          </a:prstGeom>
          <a:solidFill>
            <a:srgbClr val="FFFFFF">
              <a:alpha val="5000"/>
            </a:srgbClr>
          </a:solidFill>
          <a:ln w="12700">
            <a:solidFill>
              <a:srgbClr val="88E555">
                <a:alpha val="30000"/>
              </a:srgbClr>
            </a:solidFill>
            <a:prstDash val="solid"/>
          </a:ln>
        </p:spPr>
        <p:txBody>
          <a:bodyPr/>
          <a:lstStyle/>
          <a:p>
            <a:endParaRPr lang="en-IN"/>
          </a:p>
        </p:txBody>
      </p:sp>
      <p:sp>
        <p:nvSpPr>
          <p:cNvPr id="10" name="Shape 5"/>
          <p:cNvSpPr/>
          <p:nvPr/>
        </p:nvSpPr>
        <p:spPr>
          <a:xfrm>
            <a:off x="571500" y="1879092"/>
            <a:ext cx="190195" cy="190195"/>
          </a:xfrm>
          <a:prstGeom prst="roundRect">
            <a:avLst>
              <a:gd name="adj" fmla="val 192308"/>
            </a:avLst>
          </a:prstGeom>
          <a:noFill/>
          <a:ln w="38100">
            <a:solidFill>
              <a:srgbClr val="88E555"/>
            </a:solidFill>
            <a:prstDash val="solid"/>
          </a:ln>
        </p:spPr>
        <p:txBody>
          <a:bodyPr/>
          <a:lstStyle/>
          <a:p>
            <a:endParaRPr lang="en-IN"/>
          </a:p>
        </p:txBody>
      </p:sp>
      <p:sp>
        <p:nvSpPr>
          <p:cNvPr id="11" name="Shape 6"/>
          <p:cNvSpPr/>
          <p:nvPr/>
        </p:nvSpPr>
        <p:spPr>
          <a:xfrm>
            <a:off x="11430000" y="1879092"/>
            <a:ext cx="190195" cy="190195"/>
          </a:xfrm>
          <a:prstGeom prst="rect">
            <a:avLst/>
          </a:prstGeom>
          <a:noFill/>
          <a:ln w="38100">
            <a:solidFill>
              <a:srgbClr val="88E555"/>
            </a:solidFill>
            <a:prstDash val="solid"/>
          </a:ln>
        </p:spPr>
        <p:txBody>
          <a:bodyPr/>
          <a:lstStyle/>
          <a:p>
            <a:endParaRPr lang="en-IN"/>
          </a:p>
        </p:txBody>
      </p:sp>
      <p:sp>
        <p:nvSpPr>
          <p:cNvPr id="12" name="Shape 7"/>
          <p:cNvSpPr/>
          <p:nvPr/>
        </p:nvSpPr>
        <p:spPr>
          <a:xfrm>
            <a:off x="571500" y="6381598"/>
            <a:ext cx="190195" cy="190195"/>
          </a:xfrm>
          <a:prstGeom prst="rect">
            <a:avLst/>
          </a:prstGeom>
          <a:noFill/>
          <a:ln w="38100">
            <a:solidFill>
              <a:srgbClr val="88E555"/>
            </a:solidFill>
            <a:prstDash val="solid"/>
          </a:ln>
        </p:spPr>
        <p:txBody>
          <a:bodyPr/>
          <a:lstStyle/>
          <a:p>
            <a:endParaRPr lang="en-IN"/>
          </a:p>
        </p:txBody>
      </p:sp>
      <p:sp>
        <p:nvSpPr>
          <p:cNvPr id="13" name="Shape 8"/>
          <p:cNvSpPr/>
          <p:nvPr/>
        </p:nvSpPr>
        <p:spPr>
          <a:xfrm>
            <a:off x="11430000" y="6381598"/>
            <a:ext cx="190195" cy="190195"/>
          </a:xfrm>
          <a:prstGeom prst="rect">
            <a:avLst/>
          </a:prstGeom>
          <a:noFill/>
          <a:ln w="38100">
            <a:solidFill>
              <a:srgbClr val="88E555"/>
            </a:solidFill>
            <a:prstDash val="solid"/>
          </a:ln>
        </p:spPr>
        <p:txBody>
          <a:bodyPr/>
          <a:lstStyle/>
          <a:p>
            <a:endParaRPr lang="en-IN"/>
          </a:p>
        </p:txBody>
      </p:sp>
      <p:sp>
        <p:nvSpPr>
          <p:cNvPr id="14" name="Shape 9"/>
          <p:cNvSpPr/>
          <p:nvPr/>
        </p:nvSpPr>
        <p:spPr>
          <a:xfrm>
            <a:off x="961949" y="2269541"/>
            <a:ext cx="571500" cy="571500"/>
          </a:xfrm>
          <a:prstGeom prst="ellipse">
            <a:avLst/>
          </a:prstGeom>
          <a:solidFill>
            <a:srgbClr val="273383">
              <a:alpha val="50000"/>
            </a:srgbClr>
          </a:solidFill>
          <a:ln w="25400">
            <a:solidFill>
              <a:srgbClr val="AEFF82"/>
            </a:solidFill>
            <a:prstDash val="solid"/>
          </a:ln>
        </p:spPr>
        <p:txBody>
          <a:bodyPr/>
          <a:lstStyle/>
          <a:p>
            <a:endParaRPr lang="en-IN"/>
          </a:p>
        </p:txBody>
      </p:sp>
      <p:pic>
        <p:nvPicPr>
          <p:cNvPr id="15" name="Image 3" descr="preencoded.png"/>
          <p:cNvPicPr>
            <a:picLocks noChangeAspect="1"/>
          </p:cNvPicPr>
          <p:nvPr/>
        </p:nvPicPr>
        <p:blipFill>
          <a:blip r:embed="rId6"/>
          <a:srcRect/>
          <a:stretch/>
        </p:blipFill>
        <p:spPr>
          <a:xfrm>
            <a:off x="1133856" y="2440534"/>
            <a:ext cx="228600" cy="228600"/>
          </a:xfrm>
          <a:prstGeom prst="rect">
            <a:avLst/>
          </a:prstGeom>
        </p:spPr>
      </p:pic>
      <p:sp>
        <p:nvSpPr>
          <p:cNvPr id="16" name="Text 10"/>
          <p:cNvSpPr txBox="1"/>
          <p:nvPr/>
        </p:nvSpPr>
        <p:spPr>
          <a:xfrm>
            <a:off x="1764792" y="2286000"/>
            <a:ext cx="9345168" cy="566928"/>
          </a:xfrm>
          <a:prstGeom prst="rect">
            <a:avLst/>
          </a:prstGeom>
          <a:noFill/>
          <a:ln/>
        </p:spPr>
        <p:txBody>
          <a:bodyPr wrap="square" lIns="0" tIns="0" rIns="0" bIns="0" rtlCol="0" anchor="ctr"/>
          <a:lstStyle/>
          <a:p>
            <a:pPr marL="0" indent="0" algn="l"/>
            <a:r>
              <a:rPr lang="en-US" sz="1700" dirty="0" i="0">
                <a:solidFill>
                  <a:srgbClr val="AEFF82">
                    <a:alpha val="90000"/>
                  </a:srgbClr>
                </a:solidFill>
                <a:latin typeface="Poppins" pitchFamily="34" charset="0"/>
                <a:ea typeface="Poppins" pitchFamily="34" charset="-122"/>
                <a:cs typeface="Poppins" pitchFamily="34" charset="-120"/>
              </a:rPr>
              <a:t>A standard PyTorch stack, one commodity GPU, and an evaluator command that runs offline in a single step.</a:t>
            </a:r>
            <a:endParaRPr lang="en-US" sz="1800" dirty="0"/>
          </a:p>
        </p:txBody>
      </p:sp>
      <p:sp>
        <p:nvSpPr>
          <p:cNvPr id="17" name="Shape 11"/>
          <p:cNvSpPr/>
          <p:nvPr/>
        </p:nvSpPr>
        <p:spPr>
          <a:xfrm>
            <a:off x="960120" y="3017520"/>
            <a:ext cx="10268712" cy="1828800"/>
          </a:xfrm>
          <a:prstGeom prst="roundRect">
            <a:avLst>
              <a:gd name="adj" fmla="val 4277"/>
            </a:avLst>
          </a:prstGeom>
          <a:solidFill>
            <a:srgbClr val="1E3A8A">
              <a:alpha val="40000"/>
            </a:srgbClr>
          </a:solidFill>
          <a:ln w="12700">
            <a:solidFill>
              <a:srgbClr val="1D4ED8"/>
            </a:solidFill>
            <a:prstDash val="solid"/>
          </a:ln>
        </p:spPr>
        <p:txBody>
          <a:bodyPr/>
          <a:lstStyle/>
          <a:p>
            <a:endParaRPr lang="en-IN"/>
          </a:p>
        </p:txBody>
      </p:sp>
      <p:sp>
        <p:nvSpPr>
          <p:cNvPr id="18" name="Text 12"/>
          <p:cNvSpPr txBox="1"/>
          <p:nvPr/>
        </p:nvSpPr>
        <p:spPr>
          <a:xfrm>
            <a:off x="1197864" y="3172968"/>
            <a:ext cx="2033626" cy="191110"/>
          </a:xfrm>
          <a:prstGeom prst="rect">
            <a:avLst/>
          </a:prstGeom>
          <a:noFill/>
          <a:ln/>
        </p:spPr>
        <p:txBody>
          <a:bodyPr wrap="square" lIns="0" tIns="0" rIns="0" bIns="0" rtlCol="0" anchor="ctr"/>
          <a:lstStyle/>
          <a:p>
            <a:pPr marL="0" indent="0" algn="l">
              <a:buNone/>
            </a:pPr>
            <a:r>
              <a:rPr lang="en-US" sz="1000" b="1" dirty="0">
                <a:solidFill>
                  <a:srgbClr val="9CA3AF"/>
                </a:solidFill>
                <a:latin typeface="Poppins" pitchFamily="34" charset="0"/>
                <a:ea typeface="Poppins" pitchFamily="34" charset="-122"/>
                <a:cs typeface="Poppins" pitchFamily="34" charset="-120"/>
              </a:rPr>
              <a:t>IMPLEMENTATION STRATEGY</a:t>
            </a:r>
            <a:endParaRPr lang="en-US" sz="1000" dirty="0"/>
          </a:p>
        </p:txBody>
      </p:sp>
      <p:sp>
        <p:nvSpPr>
          <p:cNvPr id="19" name="Text 13"/>
          <p:cNvSpPr txBox="1"/>
          <p:nvPr/>
        </p:nvSpPr>
        <p:spPr>
          <a:xfrm>
            <a:off x="1197864" y="3401568"/>
            <a:ext cx="9784080" cy="1371600"/>
          </a:xfrm>
          <a:prstGeom prst="rect">
            <a:avLst/>
          </a:prstGeom>
          <a:noFill/>
          <a:ln/>
        </p:spPr>
        <p:txBody>
          <a:bodyPr wrap="square" lIns="0" tIns="0" rIns="0" bIns="0" rtlCol="0" anchor="ctr"/>
          <a:lstStyle/>
          <a:p>
            <a:pPr marL="155448" indent="-155448" algn="l">
              <a:buFont typeface="Arial"/>
              <a:buChar char="•"/>
            </a:pPr>
            <a:r>
              <a:rPr lang="en-US" sz="1200" i="0" dirty="0">
                <a:solidFill>
                  <a:srgbClr val="FFFFFF">
                    <a:alpha val="70000"/>
                  </a:srgbClr>
                </a:solidFill>
                <a:latin typeface="Poppins" pitchFamily="34" charset="0"/>
                <a:ea typeface="Poppins" pitchFamily="34" charset="-122"/>
                <a:cs typeface="Poppins" pitchFamily="34" charset="-120"/>
              </a:rPr>
              <a:t>One command: python run.py &lt;input-dir&gt; &lt;output-dir&gt; — discovers every top-level .npy, auto-selects CUDA or CPU, writes one same-named output per input.</a:t>
            </a:r>
            <a:endParaRPr lang="en-US" sz="1300" dirty="0"/>
          </a:p>
          <a:p>
            <a:pPr marL="155448" indent="-155448" algn="l">
              <a:spcBef>
                <a:spcPts val="300"/>
              </a:spcBef>
              <a:buFont typeface="Arial"/>
              <a:buChar char="•"/>
            </a:pPr>
            <a:r>
              <a:rPr lang="en-US" sz="1200" i="0" dirty="0">
                <a:solidFill>
                  <a:srgbClr val="FFFFFF">
                    <a:alpha val="70000"/>
                  </a:srgbClr>
                </a:solidFill>
                <a:latin typeface="Poppins" pitchFamily="34" charset="0"/>
                <a:ea typeface="Poppins" pitchFamily="34" charset="-122"/>
                <a:cs typeface="Poppins" pitchFamily="34" charset="-120"/>
              </a:rPr>
              <a:t>Loads models/best.pt (EMA weights, 126 MiB), pads to a multiple of four, runs eight dihedral passes, crops back to exactly 2H x 2W.</a:t>
            </a:r>
            <a:endParaRPr lang="en-US" sz="1300" dirty="0"/>
          </a:p>
          <a:p>
            <a:pPr marL="155448" indent="-155448" algn="l">
              <a:spcBef>
                <a:spcPts val="300"/>
              </a:spcBef>
              <a:buFont typeface="Arial"/>
              <a:buChar char="•"/>
            </a:pPr>
            <a:r>
              <a:rPr lang="en-US" sz="1200" i="0" dirty="0">
                <a:solidFill>
                  <a:srgbClr val="FFFFFF">
                    <a:alpha val="70000"/>
                  </a:srgbClr>
                </a:solidFill>
                <a:latin typeface="Poppins" pitchFamily="34" charset="0"/>
                <a:ea typeface="Poppins" pitchFamily="34" charset="-122"/>
                <a:cs typeface="Poppins" pitchFamily="34" charset="-120"/>
              </a:rPr>
              <a:t>Outputs are float32, finite, two-dimensional and bounded to [0, 1]; the contract is covered by an automated pytest suite.</a:t>
            </a:r>
            <a:endParaRPr lang="en-US" sz="1300" dirty="0"/>
          </a:p>
          <a:p>
            <a:pPr marL="155448" indent="-155448" algn="l">
              <a:spcBef>
                <a:spcPts val="300"/>
              </a:spcBef>
              <a:buFont typeface="Arial"/>
              <a:buChar char="•"/>
            </a:pPr>
            <a:r>
              <a:rPr lang="en-US" sz="1200" i="0" dirty="0">
                <a:solidFill>
                  <a:srgbClr val="FFFFFF">
                    <a:alpha val="70000"/>
                  </a:srgbClr>
                </a:solidFill>
                <a:latin typeface="Poppins" pitchFamily="34" charset="0"/>
                <a:ea typeface="Poppins" pitchFamily="34" charset="-122"/>
                <a:cs typeface="Poppins" pitchFamily="34" charset="-120"/>
              </a:rPr>
              <a:t>Feasibility is proven, not projected: checkpoint at epoch 71 (28.95 dB / 0.818 SSIM), dataset run at 29.15 dB / 0.825 SSIM.</a:t>
            </a:r>
            <a:endParaRPr lang="en-US" sz="1300" dirty="0"/>
          </a:p>
        </p:txBody>
      </p:sp>
      <p:sp>
        <p:nvSpPr>
          <p:cNvPr id="20" name="Shape 14"/>
          <p:cNvSpPr/>
          <p:nvPr/>
        </p:nvSpPr>
        <p:spPr>
          <a:xfrm>
            <a:off x="961949" y="5029200"/>
            <a:ext cx="3295498" cy="1234440"/>
          </a:xfrm>
          <a:prstGeom prst="roundRect">
            <a:avLst>
              <a:gd name="adj" fmla="val 7995"/>
            </a:avLst>
          </a:prstGeom>
          <a:solidFill>
            <a:srgbClr val="273383">
              <a:alpha val="40000"/>
            </a:srgbClr>
          </a:solidFill>
          <a:ln w="12700">
            <a:solidFill>
              <a:srgbClr val="88E555">
                <a:alpha val="20000"/>
              </a:srgbClr>
            </a:solidFill>
            <a:prstDash val="solid"/>
          </a:ln>
        </p:spPr>
        <p:txBody>
          <a:bodyPr/>
          <a:lstStyle/>
          <a:p>
            <a:endParaRPr lang="en-IN"/>
          </a:p>
        </p:txBody>
      </p:sp>
      <p:pic>
        <p:nvPicPr>
          <p:cNvPr id="21" name="Image 4" descr="preencoded.png"/>
          <p:cNvPicPr>
            <a:picLocks noChangeAspect="1"/>
          </p:cNvPicPr>
          <p:nvPr/>
        </p:nvPicPr>
        <p:blipFill>
          <a:blip r:embed="rId7"/>
          <a:srcRect t="-45" b="-45"/>
          <a:stretch/>
        </p:blipFill>
        <p:spPr>
          <a:xfrm>
            <a:off x="2481682" y="5175504"/>
            <a:ext cx="256946" cy="228600"/>
          </a:xfrm>
          <a:prstGeom prst="rect">
            <a:avLst/>
          </a:prstGeom>
        </p:spPr>
      </p:pic>
      <p:sp>
        <p:nvSpPr>
          <p:cNvPr id="22" name="Text 15"/>
          <p:cNvSpPr txBox="1"/>
          <p:nvPr/>
        </p:nvSpPr>
        <p:spPr>
          <a:xfrm>
            <a:off x="1051560" y="5486400"/>
            <a:ext cx="3108960" cy="191110"/>
          </a:xfrm>
          <a:prstGeom prst="rect">
            <a:avLst/>
          </a:prstGeom>
          <a:noFill/>
          <a:ln/>
        </p:spPr>
        <p:txBody>
          <a:bodyPr wrap="square" lIns="0" tIns="0" rIns="0" bIns="0" rtlCol="0" anchor="ctr"/>
          <a:lstStyle/>
          <a:p>
            <a:pPr marL="0" indent="0" algn="ctr">
              <a:buNone/>
            </a:pPr>
            <a:r>
              <a:rPr lang="en-US" sz="1000" dirty="0">
                <a:solidFill>
                  <a:srgbClr val="E2E8F0"/>
                </a:solidFill>
                <a:latin typeface="Poppins" pitchFamily="34" charset="0"/>
                <a:ea typeface="Poppins" pitchFamily="34" charset="-122"/>
                <a:cs typeface="Poppins" pitchFamily="34" charset="-120"/>
              </a:rPr>
              <a:t>Software Architecture</a:t>
            </a:r>
            <a:endParaRPr lang="en-US" sz="1000" dirty="0"/>
          </a:p>
        </p:txBody>
      </p:sp>
      <p:sp>
        <p:nvSpPr>
          <p:cNvPr id="23" name="Shape 16"/>
          <p:cNvSpPr/>
          <p:nvPr/>
        </p:nvSpPr>
        <p:spPr>
          <a:xfrm>
            <a:off x="4448556" y="5029200"/>
            <a:ext cx="3295498" cy="1234440"/>
          </a:xfrm>
          <a:prstGeom prst="roundRect">
            <a:avLst>
              <a:gd name="adj" fmla="val 7995"/>
            </a:avLst>
          </a:prstGeom>
          <a:solidFill>
            <a:srgbClr val="273383">
              <a:alpha val="40000"/>
            </a:srgbClr>
          </a:solidFill>
          <a:ln w="12700">
            <a:solidFill>
              <a:srgbClr val="88E555">
                <a:alpha val="20000"/>
              </a:srgbClr>
            </a:solidFill>
            <a:prstDash val="solid"/>
          </a:ln>
        </p:spPr>
        <p:txBody>
          <a:bodyPr/>
          <a:lstStyle/>
          <a:p>
            <a:endParaRPr lang="en-IN"/>
          </a:p>
        </p:txBody>
      </p:sp>
      <p:pic>
        <p:nvPicPr>
          <p:cNvPr id="24" name="Image 5" descr="preencoded.png"/>
          <p:cNvPicPr>
            <a:picLocks noChangeAspect="1"/>
          </p:cNvPicPr>
          <p:nvPr/>
        </p:nvPicPr>
        <p:blipFill>
          <a:blip r:embed="rId8"/>
          <a:srcRect/>
          <a:stretch/>
        </p:blipFill>
        <p:spPr>
          <a:xfrm>
            <a:off x="5982005" y="5175504"/>
            <a:ext cx="228600" cy="228600"/>
          </a:xfrm>
          <a:prstGeom prst="rect">
            <a:avLst/>
          </a:prstGeom>
        </p:spPr>
      </p:pic>
      <p:sp>
        <p:nvSpPr>
          <p:cNvPr id="25" name="Text 17"/>
          <p:cNvSpPr txBox="1"/>
          <p:nvPr/>
        </p:nvSpPr>
        <p:spPr>
          <a:xfrm>
            <a:off x="4544568" y="5486400"/>
            <a:ext cx="3108960" cy="191110"/>
          </a:xfrm>
          <a:prstGeom prst="rect">
            <a:avLst/>
          </a:prstGeom>
          <a:noFill/>
          <a:ln/>
        </p:spPr>
        <p:txBody>
          <a:bodyPr wrap="square" lIns="0" tIns="0" rIns="0" bIns="0" rtlCol="0" anchor="ctr"/>
          <a:lstStyle/>
          <a:p>
            <a:pPr marL="0" indent="0" algn="ctr">
              <a:buNone/>
            </a:pPr>
            <a:r>
              <a:rPr lang="en-US" sz="1000" dirty="0">
                <a:solidFill>
                  <a:srgbClr val="E2E8F0"/>
                </a:solidFill>
                <a:latin typeface="Poppins" pitchFamily="34" charset="0"/>
                <a:ea typeface="Poppins" pitchFamily="34" charset="-122"/>
                <a:cs typeface="Poppins" pitchFamily="34" charset="-120"/>
              </a:rPr>
              <a:t>Hardware Components</a:t>
            </a:r>
            <a:endParaRPr lang="en-US" sz="1000" dirty="0"/>
          </a:p>
        </p:txBody>
      </p:sp>
      <p:sp>
        <p:nvSpPr>
          <p:cNvPr id="26" name="Shape 18"/>
          <p:cNvSpPr/>
          <p:nvPr/>
        </p:nvSpPr>
        <p:spPr>
          <a:xfrm>
            <a:off x="7934249" y="5029200"/>
            <a:ext cx="3295498" cy="1234440"/>
          </a:xfrm>
          <a:prstGeom prst="roundRect">
            <a:avLst>
              <a:gd name="adj" fmla="val 7995"/>
            </a:avLst>
          </a:prstGeom>
          <a:solidFill>
            <a:srgbClr val="273383">
              <a:alpha val="40000"/>
            </a:srgbClr>
          </a:solidFill>
          <a:ln w="12700">
            <a:solidFill>
              <a:srgbClr val="88E555">
                <a:alpha val="20000"/>
              </a:srgbClr>
            </a:solidFill>
            <a:prstDash val="solid"/>
          </a:ln>
        </p:spPr>
        <p:txBody>
          <a:bodyPr/>
          <a:lstStyle/>
          <a:p>
            <a:endParaRPr lang="en-IN"/>
          </a:p>
        </p:txBody>
      </p:sp>
      <p:pic>
        <p:nvPicPr>
          <p:cNvPr id="27" name="Image 6" descr="preencoded.png"/>
          <p:cNvPicPr>
            <a:picLocks noChangeAspect="1"/>
          </p:cNvPicPr>
          <p:nvPr/>
        </p:nvPicPr>
        <p:blipFill>
          <a:blip r:embed="rId9"/>
          <a:srcRect/>
          <a:stretch/>
        </p:blipFill>
        <p:spPr>
          <a:xfrm>
            <a:off x="9467698" y="5175504"/>
            <a:ext cx="228600" cy="228600"/>
          </a:xfrm>
          <a:prstGeom prst="rect">
            <a:avLst/>
          </a:prstGeom>
        </p:spPr>
      </p:pic>
      <p:sp>
        <p:nvSpPr>
          <p:cNvPr id="28" name="Text 19"/>
          <p:cNvSpPr txBox="1"/>
          <p:nvPr/>
        </p:nvSpPr>
        <p:spPr>
          <a:xfrm>
            <a:off x="8028431" y="5486400"/>
            <a:ext cx="3108960" cy="191110"/>
          </a:xfrm>
          <a:prstGeom prst="rect">
            <a:avLst/>
          </a:prstGeom>
          <a:noFill/>
          <a:ln/>
        </p:spPr>
        <p:txBody>
          <a:bodyPr wrap="square" lIns="0" tIns="0" rIns="0" bIns="0" rtlCol="0" anchor="ctr"/>
          <a:lstStyle/>
          <a:p>
            <a:pPr marL="0" indent="0" algn="ctr">
              <a:buNone/>
            </a:pPr>
            <a:r>
              <a:rPr lang="en-US" sz="1000" dirty="0">
                <a:solidFill>
                  <a:srgbClr val="E2E8F0"/>
                </a:solidFill>
                <a:latin typeface="Poppins" pitchFamily="34" charset="0"/>
                <a:ea typeface="Poppins" pitchFamily="34" charset="-122"/>
                <a:cs typeface="Poppins" pitchFamily="34" charset="-120"/>
              </a:rPr>
              <a:t>Development Tools</a:t>
            </a:r>
            <a:endParaRPr lang="en-US" sz="1000" dirty="0"/>
          </a:p>
        </p:txBody>
      </p:sp>
      <p:pic>
        <p:nvPicPr>
          <p:cNvPr id="29" name="Picture 28">
            <a:extLst>
              <a:ext uri="{FF2B5EF4-FFF2-40B4-BE49-F238E27FC236}">
                <a16:creationId xmlns:a16="http://schemas.microsoft.com/office/drawing/2014/main" id="{DA9CA506-8684-B4DC-6650-2E5F61A7B031}"/>
              </a:ext>
            </a:extLst>
          </p:cNvPr>
          <p:cNvPicPr>
            <a:picLocks noChangeAspect="1"/>
          </p:cNvPicPr>
          <p:nvPr/>
        </p:nvPicPr>
        <p:blipFill>
          <a:blip r:embed="rId10"/>
          <a:stretch>
            <a:fillRect/>
          </a:stretch>
        </p:blipFill>
        <p:spPr>
          <a:xfrm>
            <a:off x="5344743" y="228600"/>
            <a:ext cx="1607366" cy="783591"/>
          </a:xfrm>
          <a:prstGeom prst="rect">
            <a:avLst/>
          </a:prstGeom>
        </p:spPr>
      </p:pic>
      <p:sp>
        <p:nvSpPr>
          <p:cNvPr id="31" name="Shape 1">
            <a:extLst>
              <a:ext uri="{FF2B5EF4-FFF2-40B4-BE49-F238E27FC236}">
                <a16:creationId xmlns:a16="http://schemas.microsoft.com/office/drawing/2014/main" id="{10B6379C-1BCE-6784-4600-934501FC5F97}"/>
              </a:ext>
            </a:extLst>
          </p:cNvPr>
          <p:cNvSpPr/>
          <p:nvPr/>
        </p:nvSpPr>
        <p:spPr>
          <a:xfrm>
            <a:off x="571500" y="240793"/>
            <a:ext cx="11048695" cy="857707"/>
          </a:xfrm>
          <a:prstGeom prst="roundRect">
            <a:avLst>
              <a:gd name="adj" fmla="val 9476"/>
            </a:avLst>
          </a:prstGeom>
          <a:solidFill>
            <a:srgbClr val="FFFFFF">
              <a:alpha val="95000"/>
            </a:srgbClr>
          </a:solidFill>
          <a:ln/>
          <a:effectLst>
            <a:outerShdw blurRad="63500" dist="38100" dir="5400000" algn="bl" rotWithShape="0">
              <a:srgbClr val="000000">
                <a:alpha val="10000"/>
              </a:srgbClr>
            </a:outerShdw>
          </a:effectLst>
        </p:spPr>
        <p:txBody>
          <a:bodyPr/>
          <a:lstStyle/>
          <a:p>
            <a:endParaRPr lang="en-IN"/>
          </a:p>
        </p:txBody>
      </p:sp>
      <p:pic>
        <p:nvPicPr>
          <p:cNvPr id="32" name="Picture 31">
            <a:extLst>
              <a:ext uri="{FF2B5EF4-FFF2-40B4-BE49-F238E27FC236}">
                <a16:creationId xmlns:a16="http://schemas.microsoft.com/office/drawing/2014/main" id="{0D18A824-BCDE-0A33-4245-E3C168F9E6DD}"/>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1514101" y="378206"/>
            <a:ext cx="9163491" cy="586435"/>
          </a:xfrm>
          <a:prstGeom prst="rect">
            <a:avLst/>
          </a:prstGeom>
        </p:spPr>
      </p:pic>
      <p:sp>
        <p:nvSpPr>
          <p:cNvPr id="33" name="TextBox 32"/>
          <p:cNvSpPr txBox="1"/>
          <p:nvPr/>
        </p:nvSpPr>
        <p:spPr>
          <a:xfrm>
            <a:off x="1097280" y="5742432"/>
            <a:ext cx="3017520" cy="457200"/>
          </a:xfrm>
          <a:prstGeom prst="rect">
            <a:avLst/>
          </a:prstGeom>
          <a:noFill/>
        </p:spPr>
        <p:txBody>
          <a:bodyPr wrap="square" lIns="0" rIns="0" tIns="0" bIns="0" anchor="t">
            <a:spAutoFit/>
          </a:bodyPr>
          <a:lstStyle/>
          <a:p>
            <a:pPr algn="ctr"/>
            <a:r>
              <a:rPr sz="850" b="0">
                <a:solidFill>
                  <a:srgbClr val="D1D5DB"/>
                </a:solidFill>
                <a:latin typeface="Poppins"/>
              </a:rPr>
              <a:t>PyTorch 2.x · torchvision · NumPy / SciPy · YAML-driven configs · src/semicon_restore package</a:t>
            </a:r>
          </a:p>
        </p:txBody>
      </p:sp>
      <p:sp>
        <p:nvSpPr>
          <p:cNvPr id="34" name="TextBox 33"/>
          <p:cNvSpPr txBox="1"/>
          <p:nvPr/>
        </p:nvSpPr>
        <p:spPr>
          <a:xfrm>
            <a:off x="4590288" y="5742432"/>
            <a:ext cx="3017520" cy="457200"/>
          </a:xfrm>
          <a:prstGeom prst="rect">
            <a:avLst/>
          </a:prstGeom>
          <a:noFill/>
        </p:spPr>
        <p:txBody>
          <a:bodyPr wrap="square" lIns="0" rIns="0" tIns="0" bIns="0" anchor="t">
            <a:spAutoFit/>
          </a:bodyPr>
          <a:lstStyle/>
          <a:p>
            <a:pPr algn="ctr"/>
            <a:r>
              <a:rPr sz="850" b="0">
                <a:solidFill>
                  <a:srgbClr val="D1D5DB"/>
                </a:solidFill>
                <a:latin typeface="Poppins"/>
              </a:rPr>
              <a:t>NVIDIA CUDA 12.1 GPU for training and 8-fold TTA inference · automatic CPU fallback</a:t>
            </a:r>
          </a:p>
        </p:txBody>
      </p:sp>
      <p:sp>
        <p:nvSpPr>
          <p:cNvPr id="35" name="TextBox 34"/>
          <p:cNvSpPr txBox="1"/>
          <p:nvPr/>
        </p:nvSpPr>
        <p:spPr>
          <a:xfrm>
            <a:off x="8074152" y="5742432"/>
            <a:ext cx="3017520" cy="457200"/>
          </a:xfrm>
          <a:prstGeom prst="rect">
            <a:avLst/>
          </a:prstGeom>
          <a:noFill/>
        </p:spPr>
        <p:txBody>
          <a:bodyPr wrap="square" lIns="0" rIns="0" tIns="0" bIns="0" anchor="t">
            <a:spAutoFit/>
          </a:bodyPr>
          <a:lstStyle/>
          <a:p>
            <a:pPr algn="ctr"/>
            <a:r>
              <a:rPr sz="850" b="0">
                <a:solidFill>
                  <a:srgbClr val="D1D5DB"/>
                </a:solidFill>
                <a:latin typeface="Poppins"/>
              </a:rPr>
              <a:t>Git / GitHub · pytest · ruff · Matplotlib reporting · seeded split manifests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00036"/>
          </a:solidFill>
          <a:ln/>
        </p:spPr>
        <p:txBody>
          <a:bodyPr/>
          <a:lstStyle/>
          <a:p>
            <a:endParaRPr lang="en-IN"/>
          </a:p>
        </p:txBody>
      </p:sp>
      <p:pic>
        <p:nvPicPr>
          <p:cNvPr id="3" name="Image 0" descr="preencoded.png"/>
          <p:cNvPicPr>
            <a:picLocks noChangeAspect="1"/>
          </p:cNvPicPr>
          <p:nvPr/>
        </p:nvPicPr>
        <p:blipFill>
          <a:blip r:embed="rId3">
            <a:alphaModFix amt="10000"/>
          </a:blip>
          <a:srcRect l="12327" r="12327"/>
          <a:stretch/>
        </p:blipFill>
        <p:spPr>
          <a:xfrm>
            <a:off x="0" y="0"/>
            <a:ext cx="12191695" cy="6858000"/>
          </a:xfrm>
          <a:prstGeom prst="rect">
            <a:avLst/>
          </a:prstGeom>
        </p:spPr>
      </p:pic>
      <p:sp>
        <p:nvSpPr>
          <p:cNvPr id="4" name="Shape 1"/>
          <p:cNvSpPr/>
          <p:nvPr/>
        </p:nvSpPr>
        <p:spPr>
          <a:xfrm>
            <a:off x="571500" y="286207"/>
            <a:ext cx="11048695" cy="666598"/>
          </a:xfrm>
          <a:prstGeom prst="roundRect">
            <a:avLst>
              <a:gd name="adj" fmla="val 15677"/>
            </a:avLst>
          </a:prstGeom>
          <a:solidFill>
            <a:srgbClr val="FFFFFF">
              <a:alpha val="95000"/>
            </a:srgbClr>
          </a:solidFill>
          <a:ln/>
          <a:effectLst>
            <a:outerShdw blurRad="63500" dist="38100" dir="5400000" algn="bl" rotWithShape="0">
              <a:srgbClr val="000000">
                <a:alpha val="10000"/>
              </a:srgbClr>
            </a:outerShdw>
          </a:effectLst>
        </p:spPr>
        <p:txBody>
          <a:bodyPr/>
          <a:lstStyle/>
          <a:p>
            <a:endParaRPr lang="en-IN"/>
          </a:p>
        </p:txBody>
      </p:sp>
      <p:pic>
        <p:nvPicPr>
          <p:cNvPr id="5" name="Image 1" descr="preencoded.png"/>
          <p:cNvPicPr>
            <a:picLocks noChangeAspect="1"/>
          </p:cNvPicPr>
          <p:nvPr/>
        </p:nvPicPr>
        <p:blipFill>
          <a:blip r:embed="rId4"/>
          <a:srcRect t="10" b="10"/>
          <a:stretch/>
        </p:blipFill>
        <p:spPr>
          <a:xfrm>
            <a:off x="857707" y="381305"/>
            <a:ext cx="1266444" cy="476402"/>
          </a:xfrm>
          <a:prstGeom prst="rect">
            <a:avLst/>
          </a:prstGeom>
        </p:spPr>
      </p:pic>
      <p:pic>
        <p:nvPicPr>
          <p:cNvPr id="6" name="Image 2" descr="preencoded.png"/>
          <p:cNvPicPr>
            <a:picLocks noChangeAspect="1"/>
          </p:cNvPicPr>
          <p:nvPr/>
        </p:nvPicPr>
        <p:blipFill>
          <a:blip r:embed="rId5"/>
          <a:srcRect/>
          <a:stretch/>
        </p:blipFill>
        <p:spPr>
          <a:xfrm>
            <a:off x="10858500" y="381305"/>
            <a:ext cx="476402" cy="476402"/>
          </a:xfrm>
          <a:prstGeom prst="rect">
            <a:avLst/>
          </a:prstGeom>
        </p:spPr>
      </p:pic>
      <p:sp>
        <p:nvSpPr>
          <p:cNvPr id="7" name="Shape 2"/>
          <p:cNvSpPr/>
          <p:nvPr/>
        </p:nvSpPr>
        <p:spPr>
          <a:xfrm>
            <a:off x="571500" y="1333195"/>
            <a:ext cx="75895" cy="409651"/>
          </a:xfrm>
          <a:prstGeom prst="rect">
            <a:avLst/>
          </a:prstGeom>
          <a:solidFill>
            <a:srgbClr val="88E555"/>
          </a:solidFill>
          <a:ln/>
        </p:spPr>
        <p:txBody>
          <a:bodyPr/>
          <a:lstStyle/>
          <a:p>
            <a:endParaRPr lang="en-IN"/>
          </a:p>
        </p:txBody>
      </p:sp>
      <p:sp>
        <p:nvSpPr>
          <p:cNvPr id="8" name="Text 3"/>
          <p:cNvSpPr txBox="1"/>
          <p:nvPr/>
        </p:nvSpPr>
        <p:spPr>
          <a:xfrm>
            <a:off x="838505" y="1295705"/>
            <a:ext cx="3604565" cy="467258"/>
          </a:xfrm>
          <a:prstGeom prst="rect">
            <a:avLst/>
          </a:prstGeom>
          <a:noFill/>
          <a:ln/>
        </p:spPr>
        <p:txBody>
          <a:bodyPr wrap="square" lIns="0" tIns="0" rIns="0" bIns="0" rtlCol="0" anchor="ctr"/>
          <a:lstStyle/>
          <a:p>
            <a:pPr marL="0" indent="0" algn="l">
              <a:buNone/>
            </a:pPr>
            <a:r>
              <a:rPr lang="en-US" sz="2600" b="1" dirty="0">
                <a:solidFill>
                  <a:srgbClr val="FFFFFF"/>
                </a:solidFill>
                <a:latin typeface="Poppins" pitchFamily="34" charset="0"/>
                <a:ea typeface="Poppins" pitchFamily="34" charset="-122"/>
                <a:cs typeface="Poppins" pitchFamily="34" charset="-120"/>
              </a:rPr>
              <a:t>GitHub &amp; Video Link</a:t>
            </a:r>
            <a:endParaRPr lang="en-US" sz="2600" dirty="0"/>
          </a:p>
        </p:txBody>
      </p:sp>
      <p:sp>
        <p:nvSpPr>
          <p:cNvPr id="9" name="Shape 4"/>
          <p:cNvSpPr/>
          <p:nvPr/>
        </p:nvSpPr>
        <p:spPr>
          <a:xfrm>
            <a:off x="571500" y="2021738"/>
            <a:ext cx="11048695" cy="4552798"/>
          </a:xfrm>
          <a:prstGeom prst="roundRect">
            <a:avLst>
              <a:gd name="adj" fmla="val 672"/>
            </a:avLst>
          </a:prstGeom>
          <a:solidFill>
            <a:srgbClr val="FFFFFF">
              <a:alpha val="5000"/>
            </a:srgbClr>
          </a:solidFill>
          <a:ln w="12700">
            <a:solidFill>
              <a:srgbClr val="88E555">
                <a:alpha val="30000"/>
              </a:srgbClr>
            </a:solidFill>
            <a:prstDash val="solid"/>
          </a:ln>
        </p:spPr>
        <p:txBody>
          <a:bodyPr/>
          <a:lstStyle/>
          <a:p>
            <a:endParaRPr lang="en-IN"/>
          </a:p>
        </p:txBody>
      </p:sp>
      <p:sp>
        <p:nvSpPr>
          <p:cNvPr id="10" name="Shape 5"/>
          <p:cNvSpPr/>
          <p:nvPr/>
        </p:nvSpPr>
        <p:spPr>
          <a:xfrm>
            <a:off x="571500" y="2021738"/>
            <a:ext cx="190195" cy="190195"/>
          </a:xfrm>
          <a:prstGeom prst="roundRect">
            <a:avLst>
              <a:gd name="adj" fmla="val 192308"/>
            </a:avLst>
          </a:prstGeom>
          <a:noFill/>
          <a:ln w="38100">
            <a:solidFill>
              <a:srgbClr val="88E555"/>
            </a:solidFill>
            <a:prstDash val="solid"/>
          </a:ln>
        </p:spPr>
        <p:txBody>
          <a:bodyPr/>
          <a:lstStyle/>
          <a:p>
            <a:endParaRPr lang="en-IN"/>
          </a:p>
        </p:txBody>
      </p:sp>
      <p:sp>
        <p:nvSpPr>
          <p:cNvPr id="11" name="Shape 6"/>
          <p:cNvSpPr/>
          <p:nvPr/>
        </p:nvSpPr>
        <p:spPr>
          <a:xfrm>
            <a:off x="11430000" y="2021738"/>
            <a:ext cx="190195" cy="190195"/>
          </a:xfrm>
          <a:prstGeom prst="rect">
            <a:avLst/>
          </a:prstGeom>
          <a:noFill/>
          <a:ln w="38100">
            <a:solidFill>
              <a:srgbClr val="88E555"/>
            </a:solidFill>
            <a:prstDash val="solid"/>
          </a:ln>
        </p:spPr>
        <p:txBody>
          <a:bodyPr/>
          <a:lstStyle/>
          <a:p>
            <a:endParaRPr lang="en-IN"/>
          </a:p>
        </p:txBody>
      </p:sp>
      <p:sp>
        <p:nvSpPr>
          <p:cNvPr id="12" name="Shape 7"/>
          <p:cNvSpPr/>
          <p:nvPr/>
        </p:nvSpPr>
        <p:spPr>
          <a:xfrm>
            <a:off x="571500" y="6381598"/>
            <a:ext cx="190195" cy="190195"/>
          </a:xfrm>
          <a:prstGeom prst="rect">
            <a:avLst/>
          </a:prstGeom>
          <a:noFill/>
          <a:ln w="38100">
            <a:solidFill>
              <a:srgbClr val="88E555"/>
            </a:solidFill>
            <a:prstDash val="solid"/>
          </a:ln>
        </p:spPr>
        <p:txBody>
          <a:bodyPr/>
          <a:lstStyle/>
          <a:p>
            <a:endParaRPr lang="en-IN"/>
          </a:p>
        </p:txBody>
      </p:sp>
      <p:sp>
        <p:nvSpPr>
          <p:cNvPr id="13" name="Shape 8"/>
          <p:cNvSpPr/>
          <p:nvPr/>
        </p:nvSpPr>
        <p:spPr>
          <a:xfrm>
            <a:off x="11430000" y="6381598"/>
            <a:ext cx="190195" cy="190195"/>
          </a:xfrm>
          <a:prstGeom prst="rect">
            <a:avLst/>
          </a:prstGeom>
          <a:noFill/>
          <a:ln w="38100">
            <a:solidFill>
              <a:srgbClr val="88E555"/>
            </a:solidFill>
            <a:prstDash val="solid"/>
          </a:ln>
        </p:spPr>
        <p:txBody>
          <a:bodyPr/>
          <a:lstStyle/>
          <a:p>
            <a:endParaRPr lang="en-IN"/>
          </a:p>
        </p:txBody>
      </p:sp>
      <p:sp>
        <p:nvSpPr>
          <p:cNvPr id="14" name="Shape 9"/>
          <p:cNvSpPr/>
          <p:nvPr/>
        </p:nvSpPr>
        <p:spPr>
          <a:xfrm>
            <a:off x="1190549" y="2696566"/>
            <a:ext cx="9810598" cy="1447495"/>
          </a:xfrm>
          <a:prstGeom prst="roundRect">
            <a:avLst>
              <a:gd name="adj" fmla="val 4987"/>
            </a:avLst>
          </a:prstGeom>
          <a:noFill/>
          <a:ln w="12700">
            <a:solidFill>
              <a:srgbClr val="88E555">
                <a:alpha val="20000"/>
              </a:srgbClr>
            </a:solidFill>
            <a:prstDash val="solid"/>
          </a:ln>
        </p:spPr>
        <p:txBody>
          <a:bodyPr/>
          <a:lstStyle/>
          <a:p>
            <a:endParaRPr lang="en-IN"/>
          </a:p>
        </p:txBody>
      </p:sp>
      <p:sp>
        <p:nvSpPr>
          <p:cNvPr id="15" name="Shape 10"/>
          <p:cNvSpPr/>
          <p:nvPr/>
        </p:nvSpPr>
        <p:spPr>
          <a:xfrm>
            <a:off x="1429207" y="3087014"/>
            <a:ext cx="666598" cy="666598"/>
          </a:xfrm>
          <a:prstGeom prst="ellipse">
            <a:avLst/>
          </a:prstGeom>
          <a:solidFill>
            <a:srgbClr val="273383">
              <a:alpha val="60000"/>
            </a:srgbClr>
          </a:solidFill>
          <a:ln w="25400">
            <a:solidFill>
              <a:srgbClr val="AEFF82"/>
            </a:solidFill>
            <a:prstDash val="solid"/>
          </a:ln>
          <a:effectLst>
            <a:outerShdw blurRad="139700" dist="12700" dir="16200000" algn="bl" rotWithShape="0">
              <a:srgbClr val="88E555">
                <a:alpha val="20000"/>
              </a:srgbClr>
            </a:outerShdw>
          </a:effectLst>
        </p:spPr>
        <p:txBody>
          <a:bodyPr/>
          <a:lstStyle/>
          <a:p>
            <a:endParaRPr lang="en-IN"/>
          </a:p>
        </p:txBody>
      </p:sp>
      <p:pic>
        <p:nvPicPr>
          <p:cNvPr id="16" name="Image 3" descr="preencoded.png"/>
          <p:cNvPicPr>
            <a:picLocks noChangeAspect="1"/>
          </p:cNvPicPr>
          <p:nvPr/>
        </p:nvPicPr>
        <p:blipFill>
          <a:blip r:embed="rId6"/>
          <a:srcRect l="-237" r="-237"/>
          <a:stretch/>
        </p:blipFill>
        <p:spPr>
          <a:xfrm>
            <a:off x="1595628" y="3248863"/>
            <a:ext cx="333756" cy="342900"/>
          </a:xfrm>
          <a:prstGeom prst="rect">
            <a:avLst/>
          </a:prstGeom>
        </p:spPr>
      </p:pic>
      <p:sp>
        <p:nvSpPr>
          <p:cNvPr id="17" name="Text 11"/>
          <p:cNvSpPr txBox="1"/>
          <p:nvPr/>
        </p:nvSpPr>
        <p:spPr>
          <a:xfrm>
            <a:off x="2400300" y="2934310"/>
            <a:ext cx="2000707" cy="267005"/>
          </a:xfrm>
          <a:prstGeom prst="rect">
            <a:avLst/>
          </a:prstGeom>
          <a:noFill/>
          <a:ln/>
        </p:spPr>
        <p:txBody>
          <a:bodyPr wrap="square" lIns="0" tIns="0" rIns="0" bIns="0" rtlCol="0" anchor="ctr"/>
          <a:lstStyle/>
          <a:p>
            <a:pPr marL="0" indent="0" algn="l">
              <a:buNone/>
            </a:pPr>
            <a:r>
              <a:rPr lang="en-US" sz="1500" b="1" dirty="0">
                <a:solidFill>
                  <a:srgbClr val="88E555"/>
                </a:solidFill>
                <a:latin typeface="Poppins" pitchFamily="34" charset="0"/>
                <a:ea typeface="Poppins" pitchFamily="34" charset="-122"/>
                <a:cs typeface="Poppins" pitchFamily="34" charset="-120"/>
              </a:rPr>
              <a:t>GitHub Repository</a:t>
            </a:r>
            <a:endParaRPr lang="en-US" sz="1500" dirty="0"/>
          </a:p>
        </p:txBody>
      </p:sp>
      <p:sp>
        <p:nvSpPr>
          <p:cNvPr id="18" name="Shape 12"/>
          <p:cNvSpPr/>
          <p:nvPr/>
        </p:nvSpPr>
        <p:spPr>
          <a:xfrm>
            <a:off x="2400300" y="3315614"/>
            <a:ext cx="8363102" cy="590702"/>
          </a:xfrm>
          <a:prstGeom prst="roundRect">
            <a:avLst>
              <a:gd name="adj" fmla="val 19974"/>
            </a:avLst>
          </a:prstGeom>
          <a:solidFill>
            <a:srgbClr val="FFFFFF">
              <a:alpha val="10000"/>
            </a:srgbClr>
          </a:solidFill>
          <a:ln w="12700">
            <a:solidFill>
              <a:srgbClr val="4B5563"/>
            </a:solidFill>
            <a:prstDash val="solid"/>
          </a:ln>
        </p:spPr>
        <p:txBody>
          <a:bodyPr/>
          <a:lstStyle/>
          <a:p>
            <a:endParaRPr lang="en-IN"/>
          </a:p>
        </p:txBody>
      </p:sp>
      <p:pic>
        <p:nvPicPr>
          <p:cNvPr id="19" name="Image 4" descr="preencoded.png"/>
          <p:cNvPicPr>
            <a:picLocks noChangeAspect="1"/>
          </p:cNvPicPr>
          <p:nvPr/>
        </p:nvPicPr>
        <p:blipFill>
          <a:blip r:embed="rId7"/>
          <a:srcRect t="-180" b="-180"/>
          <a:stretch/>
        </p:blipFill>
        <p:spPr>
          <a:xfrm>
            <a:off x="2562149" y="3535070"/>
            <a:ext cx="190195" cy="152705"/>
          </a:xfrm>
          <a:prstGeom prst="rect">
            <a:avLst/>
          </a:prstGeom>
        </p:spPr>
      </p:pic>
      <p:sp>
        <p:nvSpPr>
          <p:cNvPr id="20" name="Text 13"/>
          <p:cNvSpPr txBox="1"/>
          <p:nvPr/>
        </p:nvSpPr>
        <p:spPr>
          <a:xfrm>
            <a:off x="2862072" y="3483864"/>
            <a:ext cx="7680960" cy="237744"/>
          </a:xfrm>
          <a:prstGeom prst="rect">
            <a:avLst/>
          </a:prstGeom>
          <a:noFill/>
          <a:ln/>
        </p:spPr>
        <p:txBody>
          <a:bodyPr wrap="square" lIns="0" tIns="0" rIns="0" bIns="0" rtlCol="0" anchor="ctr"/>
          <a:lstStyle/>
          <a:p>
            <a:pPr marL="0" indent="0" algn="l"/>
            <a:r>
              <a:rPr lang="en-US" sz="1300" i="0" dirty="0" u="none">
                <a:solidFill>
                  <a:srgbClr val="AEFF82"/>
                </a:solidFill>
                <a:latin typeface="Poppins" pitchFamily="34" charset="0"/>
                <a:ea typeface="Poppins" pitchFamily="34" charset="-122"/>
                <a:cs typeface="Poppins" pitchFamily="34" charset="-120"/>
                <a:hlinkClick r:id="rId12"/>
              </a:rPr>
              <a:t>https://github.com/kris07hna/ContextNafNet-AI-Image-Restoration-Semicon-2026</a:t>
            </a:r>
            <a:endParaRPr lang="en-US" sz="1300" dirty="0"/>
          </a:p>
        </p:txBody>
      </p:sp>
      <p:sp>
        <p:nvSpPr>
          <p:cNvPr id="21" name="Shape 14"/>
          <p:cNvSpPr/>
          <p:nvPr/>
        </p:nvSpPr>
        <p:spPr>
          <a:xfrm>
            <a:off x="1190549" y="4449470"/>
            <a:ext cx="9810598" cy="1447495"/>
          </a:xfrm>
          <a:prstGeom prst="roundRect">
            <a:avLst>
              <a:gd name="adj" fmla="val 4987"/>
            </a:avLst>
          </a:prstGeom>
          <a:noFill/>
          <a:ln w="12700">
            <a:solidFill>
              <a:srgbClr val="88E555">
                <a:alpha val="20000"/>
              </a:srgbClr>
            </a:solidFill>
            <a:prstDash val="solid"/>
          </a:ln>
        </p:spPr>
        <p:txBody>
          <a:bodyPr/>
          <a:lstStyle/>
          <a:p>
            <a:endParaRPr lang="en-IN"/>
          </a:p>
        </p:txBody>
      </p:sp>
      <p:sp>
        <p:nvSpPr>
          <p:cNvPr id="22" name="Shape 15"/>
          <p:cNvSpPr/>
          <p:nvPr/>
        </p:nvSpPr>
        <p:spPr>
          <a:xfrm>
            <a:off x="1429207" y="4839919"/>
            <a:ext cx="666598" cy="666598"/>
          </a:xfrm>
          <a:prstGeom prst="ellipse">
            <a:avLst/>
          </a:prstGeom>
          <a:solidFill>
            <a:srgbClr val="273383">
              <a:alpha val="60000"/>
            </a:srgbClr>
          </a:solidFill>
          <a:ln w="25400">
            <a:solidFill>
              <a:srgbClr val="AEFF82"/>
            </a:solidFill>
            <a:prstDash val="solid"/>
          </a:ln>
          <a:effectLst>
            <a:outerShdw blurRad="139700" dist="12700" dir="16200000" algn="bl" rotWithShape="0">
              <a:srgbClr val="88E555">
                <a:alpha val="20000"/>
              </a:srgbClr>
            </a:outerShdw>
          </a:effectLst>
        </p:spPr>
        <p:txBody>
          <a:bodyPr/>
          <a:lstStyle/>
          <a:p>
            <a:endParaRPr lang="en-IN"/>
          </a:p>
        </p:txBody>
      </p:sp>
      <p:pic>
        <p:nvPicPr>
          <p:cNvPr id="23" name="Image 5" descr="preencoded.png"/>
          <p:cNvPicPr>
            <a:picLocks noChangeAspect="1"/>
          </p:cNvPicPr>
          <p:nvPr/>
        </p:nvPicPr>
        <p:blipFill>
          <a:blip r:embed="rId8"/>
          <a:srcRect l="-607" r="-607"/>
          <a:stretch/>
        </p:blipFill>
        <p:spPr>
          <a:xfrm>
            <a:off x="1567282" y="5001768"/>
            <a:ext cx="390449" cy="342900"/>
          </a:xfrm>
          <a:prstGeom prst="rect">
            <a:avLst/>
          </a:prstGeom>
        </p:spPr>
      </p:pic>
      <p:sp>
        <p:nvSpPr>
          <p:cNvPr id="24" name="Text 16"/>
          <p:cNvSpPr txBox="1"/>
          <p:nvPr/>
        </p:nvSpPr>
        <p:spPr>
          <a:xfrm>
            <a:off x="2400300" y="4687214"/>
            <a:ext cx="3086100" cy="267005"/>
          </a:xfrm>
          <a:prstGeom prst="rect">
            <a:avLst/>
          </a:prstGeom>
          <a:noFill/>
          <a:ln/>
        </p:spPr>
        <p:txBody>
          <a:bodyPr wrap="square" lIns="0" tIns="0" rIns="0" bIns="0" rtlCol="0" anchor="ctr"/>
          <a:lstStyle/>
          <a:p>
            <a:pPr marL="0" indent="0" algn="l">
              <a:buNone/>
            </a:pPr>
            <a:r>
              <a:rPr lang="en-US" sz="1500" b="1" dirty="0">
                <a:solidFill>
                  <a:srgbClr val="88E555"/>
                </a:solidFill>
                <a:latin typeface="Poppins" pitchFamily="34" charset="0"/>
                <a:ea typeface="Poppins" pitchFamily="34" charset="-122"/>
                <a:cs typeface="Poppins" pitchFamily="34" charset="-120"/>
              </a:rPr>
              <a:t>Prototype / Simulation Video</a:t>
            </a:r>
            <a:endParaRPr lang="en-US" sz="1500" dirty="0"/>
          </a:p>
        </p:txBody>
      </p:sp>
      <p:sp>
        <p:nvSpPr>
          <p:cNvPr id="25" name="Shape 17"/>
          <p:cNvSpPr/>
          <p:nvPr/>
        </p:nvSpPr>
        <p:spPr>
          <a:xfrm>
            <a:off x="2400300" y="5068519"/>
            <a:ext cx="8363102" cy="590702"/>
          </a:xfrm>
          <a:prstGeom prst="roundRect">
            <a:avLst>
              <a:gd name="adj" fmla="val 19974"/>
            </a:avLst>
          </a:prstGeom>
          <a:solidFill>
            <a:srgbClr val="FFFFFF">
              <a:alpha val="10000"/>
            </a:srgbClr>
          </a:solidFill>
          <a:ln w="12700">
            <a:solidFill>
              <a:srgbClr val="4B5563"/>
            </a:solidFill>
            <a:prstDash val="solid"/>
          </a:ln>
        </p:spPr>
        <p:txBody>
          <a:bodyPr/>
          <a:lstStyle/>
          <a:p>
            <a:endParaRPr lang="en-IN"/>
          </a:p>
        </p:txBody>
      </p:sp>
      <p:pic>
        <p:nvPicPr>
          <p:cNvPr id="26" name="Image 6" descr="preencoded.png"/>
          <p:cNvPicPr>
            <a:picLocks noChangeAspect="1"/>
          </p:cNvPicPr>
          <p:nvPr/>
        </p:nvPicPr>
        <p:blipFill>
          <a:blip r:embed="rId9"/>
          <a:srcRect l="-33" r="-33"/>
          <a:stretch/>
        </p:blipFill>
        <p:spPr>
          <a:xfrm>
            <a:off x="2562149" y="5287061"/>
            <a:ext cx="171907" cy="152705"/>
          </a:xfrm>
          <a:prstGeom prst="rect">
            <a:avLst/>
          </a:prstGeom>
        </p:spPr>
      </p:pic>
      <p:sp>
        <p:nvSpPr>
          <p:cNvPr id="27" name="Text 18"/>
          <p:cNvSpPr txBox="1"/>
          <p:nvPr/>
        </p:nvSpPr>
        <p:spPr>
          <a:xfrm>
            <a:off x="2852928" y="5239512"/>
            <a:ext cx="7680960" cy="237744"/>
          </a:xfrm>
          <a:prstGeom prst="rect">
            <a:avLst/>
          </a:prstGeom>
          <a:noFill/>
          <a:ln/>
        </p:spPr>
        <p:txBody>
          <a:bodyPr wrap="square" lIns="0" tIns="0" rIns="0" bIns="0" rtlCol="0" anchor="ctr"/>
          <a:lstStyle/>
          <a:p>
            <a:pPr marL="0" indent="0" algn="l"/>
            <a:r>
              <a:rPr lang="en-US" sz="1300" i="1" dirty="0" b="1">
                <a:solidFill>
                  <a:srgbClr val="FFC145"/>
                </a:solidFill>
                <a:latin typeface="Poppins" pitchFamily="34" charset="0"/>
                <a:ea typeface="Poppins" pitchFamily="34" charset="-122"/>
                <a:cs typeface="Poppins" pitchFamily="34" charset="-120"/>
              </a:rPr>
              <a:t>ADD VIDEO LINK BEFORE SUBMISSION — paste the YouTube / Drive URL here</a:t>
            </a:r>
            <a:endParaRPr lang="en-US" sz="1300" dirty="0"/>
          </a:p>
        </p:txBody>
      </p:sp>
      <p:pic>
        <p:nvPicPr>
          <p:cNvPr id="28" name="Picture 27">
            <a:extLst>
              <a:ext uri="{FF2B5EF4-FFF2-40B4-BE49-F238E27FC236}">
                <a16:creationId xmlns:a16="http://schemas.microsoft.com/office/drawing/2014/main" id="{DAC5205F-3589-4B54-7039-C1C70523478B}"/>
              </a:ext>
            </a:extLst>
          </p:cNvPr>
          <p:cNvPicPr>
            <a:picLocks noChangeAspect="1"/>
          </p:cNvPicPr>
          <p:nvPr/>
        </p:nvPicPr>
        <p:blipFill>
          <a:blip r:embed="rId10"/>
          <a:stretch>
            <a:fillRect/>
          </a:stretch>
        </p:blipFill>
        <p:spPr>
          <a:xfrm>
            <a:off x="5292164" y="227710"/>
            <a:ext cx="1607366" cy="783591"/>
          </a:xfrm>
          <a:prstGeom prst="rect">
            <a:avLst/>
          </a:prstGeom>
        </p:spPr>
      </p:pic>
      <p:sp>
        <p:nvSpPr>
          <p:cNvPr id="30" name="Shape 1">
            <a:extLst>
              <a:ext uri="{FF2B5EF4-FFF2-40B4-BE49-F238E27FC236}">
                <a16:creationId xmlns:a16="http://schemas.microsoft.com/office/drawing/2014/main" id="{89A93441-4E5C-0FCA-6BDD-16AB2E1B711C}"/>
              </a:ext>
            </a:extLst>
          </p:cNvPr>
          <p:cNvSpPr/>
          <p:nvPr/>
        </p:nvSpPr>
        <p:spPr>
          <a:xfrm>
            <a:off x="571500" y="167944"/>
            <a:ext cx="11048695" cy="857707"/>
          </a:xfrm>
          <a:prstGeom prst="roundRect">
            <a:avLst>
              <a:gd name="adj" fmla="val 9476"/>
            </a:avLst>
          </a:prstGeom>
          <a:solidFill>
            <a:srgbClr val="FFFFFF">
              <a:alpha val="95000"/>
            </a:srgbClr>
          </a:solidFill>
          <a:ln/>
          <a:effectLst>
            <a:outerShdw blurRad="63500" dist="38100" dir="5400000" algn="bl" rotWithShape="0">
              <a:srgbClr val="000000">
                <a:alpha val="10000"/>
              </a:srgbClr>
            </a:outerShdw>
          </a:effectLst>
        </p:spPr>
        <p:txBody>
          <a:bodyPr/>
          <a:lstStyle/>
          <a:p>
            <a:endParaRPr lang="en-IN"/>
          </a:p>
        </p:txBody>
      </p:sp>
      <p:pic>
        <p:nvPicPr>
          <p:cNvPr id="31" name="Picture 30">
            <a:extLst>
              <a:ext uri="{FF2B5EF4-FFF2-40B4-BE49-F238E27FC236}">
                <a16:creationId xmlns:a16="http://schemas.microsoft.com/office/drawing/2014/main" id="{73E0C32B-9271-FA34-86BB-7D95EB5AB342}"/>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1514101" y="297181"/>
            <a:ext cx="9163491" cy="58643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00036"/>
          </a:solidFill>
          <a:ln/>
        </p:spPr>
        <p:txBody>
          <a:bodyPr/>
          <a:lstStyle/>
          <a:p>
            <a:endParaRPr lang="en-IN"/>
          </a:p>
        </p:txBody>
      </p:sp>
      <p:pic>
        <p:nvPicPr>
          <p:cNvPr id="3" name="Image 0" descr="preencoded.png"/>
          <p:cNvPicPr>
            <a:picLocks noChangeAspect="1"/>
          </p:cNvPicPr>
          <p:nvPr/>
        </p:nvPicPr>
        <p:blipFill>
          <a:blip r:embed="rId3">
            <a:alphaModFix amt="10000"/>
          </a:blip>
          <a:srcRect l="12327" r="12327"/>
          <a:stretch/>
        </p:blipFill>
        <p:spPr>
          <a:xfrm>
            <a:off x="0" y="0"/>
            <a:ext cx="12191695" cy="6858000"/>
          </a:xfrm>
          <a:prstGeom prst="rect">
            <a:avLst/>
          </a:prstGeom>
        </p:spPr>
      </p:pic>
      <p:sp>
        <p:nvSpPr>
          <p:cNvPr id="4" name="Shape 1"/>
          <p:cNvSpPr/>
          <p:nvPr/>
        </p:nvSpPr>
        <p:spPr>
          <a:xfrm>
            <a:off x="571500" y="286207"/>
            <a:ext cx="11048695" cy="666598"/>
          </a:xfrm>
          <a:prstGeom prst="roundRect">
            <a:avLst>
              <a:gd name="adj" fmla="val 15677"/>
            </a:avLst>
          </a:prstGeom>
          <a:solidFill>
            <a:srgbClr val="FFFFFF">
              <a:alpha val="95000"/>
            </a:srgbClr>
          </a:solidFill>
          <a:ln/>
          <a:effectLst>
            <a:outerShdw blurRad="63500" dist="38100" dir="5400000" algn="bl" rotWithShape="0">
              <a:srgbClr val="000000">
                <a:alpha val="10000"/>
              </a:srgbClr>
            </a:outerShdw>
          </a:effectLst>
        </p:spPr>
        <p:txBody>
          <a:bodyPr/>
          <a:lstStyle/>
          <a:p>
            <a:endParaRPr lang="en-IN"/>
          </a:p>
        </p:txBody>
      </p:sp>
      <p:pic>
        <p:nvPicPr>
          <p:cNvPr id="5" name="Image 1" descr="preencoded.png"/>
          <p:cNvPicPr>
            <a:picLocks noChangeAspect="1"/>
          </p:cNvPicPr>
          <p:nvPr/>
        </p:nvPicPr>
        <p:blipFill>
          <a:blip r:embed="rId4"/>
          <a:srcRect t="10" b="10"/>
          <a:stretch/>
        </p:blipFill>
        <p:spPr>
          <a:xfrm>
            <a:off x="857707" y="381305"/>
            <a:ext cx="1266444" cy="476402"/>
          </a:xfrm>
          <a:prstGeom prst="rect">
            <a:avLst/>
          </a:prstGeom>
        </p:spPr>
      </p:pic>
      <p:pic>
        <p:nvPicPr>
          <p:cNvPr id="6" name="Image 2" descr="preencoded.png"/>
          <p:cNvPicPr>
            <a:picLocks noChangeAspect="1"/>
          </p:cNvPicPr>
          <p:nvPr/>
        </p:nvPicPr>
        <p:blipFill>
          <a:blip r:embed="rId5"/>
          <a:srcRect/>
          <a:stretch/>
        </p:blipFill>
        <p:spPr>
          <a:xfrm>
            <a:off x="10858500" y="381305"/>
            <a:ext cx="476402" cy="476402"/>
          </a:xfrm>
          <a:prstGeom prst="rect">
            <a:avLst/>
          </a:prstGeom>
        </p:spPr>
      </p:pic>
      <p:sp>
        <p:nvSpPr>
          <p:cNvPr id="7" name="Shape 2"/>
          <p:cNvSpPr/>
          <p:nvPr/>
        </p:nvSpPr>
        <p:spPr>
          <a:xfrm>
            <a:off x="571500" y="1190549"/>
            <a:ext cx="75895" cy="409651"/>
          </a:xfrm>
          <a:prstGeom prst="rect">
            <a:avLst/>
          </a:prstGeom>
          <a:solidFill>
            <a:srgbClr val="88E555"/>
          </a:solidFill>
          <a:ln/>
        </p:spPr>
        <p:txBody>
          <a:bodyPr/>
          <a:lstStyle/>
          <a:p>
            <a:endParaRPr lang="en-IN"/>
          </a:p>
        </p:txBody>
      </p:sp>
      <p:sp>
        <p:nvSpPr>
          <p:cNvPr id="8" name="Text 3"/>
          <p:cNvSpPr txBox="1"/>
          <p:nvPr/>
        </p:nvSpPr>
        <p:spPr>
          <a:xfrm>
            <a:off x="838505" y="1152144"/>
            <a:ext cx="4624121" cy="467258"/>
          </a:xfrm>
          <a:prstGeom prst="rect">
            <a:avLst/>
          </a:prstGeom>
          <a:noFill/>
          <a:ln/>
        </p:spPr>
        <p:txBody>
          <a:bodyPr wrap="square" lIns="0" tIns="0" rIns="0" bIns="0" rtlCol="0" anchor="ctr"/>
          <a:lstStyle/>
          <a:p>
            <a:pPr marL="0" indent="0" algn="l">
              <a:buNone/>
            </a:pPr>
            <a:r>
              <a:rPr lang="en-US" sz="2600" b="1" dirty="0">
                <a:solidFill>
                  <a:srgbClr val="FFFFFF"/>
                </a:solidFill>
                <a:latin typeface="Poppins" pitchFamily="34" charset="0"/>
                <a:ea typeface="Poppins" pitchFamily="34" charset="-122"/>
                <a:cs typeface="Poppins" pitchFamily="34" charset="-120"/>
              </a:rPr>
              <a:t>Research and References</a:t>
            </a:r>
            <a:endParaRPr lang="en-US" sz="2600" dirty="0"/>
          </a:p>
        </p:txBody>
      </p:sp>
      <p:sp>
        <p:nvSpPr>
          <p:cNvPr id="9" name="Shape 4"/>
          <p:cNvSpPr/>
          <p:nvPr/>
        </p:nvSpPr>
        <p:spPr>
          <a:xfrm>
            <a:off x="571500" y="1830629"/>
            <a:ext cx="11048695" cy="4743907"/>
          </a:xfrm>
          <a:prstGeom prst="roundRect">
            <a:avLst>
              <a:gd name="adj" fmla="val 619"/>
            </a:avLst>
          </a:prstGeom>
          <a:solidFill>
            <a:srgbClr val="FFFFFF">
              <a:alpha val="5000"/>
            </a:srgbClr>
          </a:solidFill>
          <a:ln w="12700">
            <a:solidFill>
              <a:srgbClr val="88E555">
                <a:alpha val="30000"/>
              </a:srgbClr>
            </a:solidFill>
            <a:prstDash val="solid"/>
          </a:ln>
        </p:spPr>
        <p:txBody>
          <a:bodyPr/>
          <a:lstStyle/>
          <a:p>
            <a:endParaRPr lang="en-IN"/>
          </a:p>
        </p:txBody>
      </p:sp>
      <p:sp>
        <p:nvSpPr>
          <p:cNvPr id="10" name="Shape 5"/>
          <p:cNvSpPr/>
          <p:nvPr/>
        </p:nvSpPr>
        <p:spPr>
          <a:xfrm>
            <a:off x="571500" y="1830629"/>
            <a:ext cx="190195" cy="190195"/>
          </a:xfrm>
          <a:prstGeom prst="roundRect">
            <a:avLst>
              <a:gd name="adj" fmla="val 192308"/>
            </a:avLst>
          </a:prstGeom>
          <a:noFill/>
          <a:ln w="38100">
            <a:solidFill>
              <a:srgbClr val="88E555"/>
            </a:solidFill>
            <a:prstDash val="solid"/>
          </a:ln>
        </p:spPr>
        <p:txBody>
          <a:bodyPr/>
          <a:lstStyle/>
          <a:p>
            <a:endParaRPr lang="en-IN"/>
          </a:p>
        </p:txBody>
      </p:sp>
      <p:sp>
        <p:nvSpPr>
          <p:cNvPr id="11" name="Shape 6"/>
          <p:cNvSpPr/>
          <p:nvPr/>
        </p:nvSpPr>
        <p:spPr>
          <a:xfrm>
            <a:off x="11430000" y="1830629"/>
            <a:ext cx="190195" cy="190195"/>
          </a:xfrm>
          <a:prstGeom prst="rect">
            <a:avLst/>
          </a:prstGeom>
          <a:noFill/>
          <a:ln w="38100">
            <a:solidFill>
              <a:srgbClr val="88E555"/>
            </a:solidFill>
            <a:prstDash val="solid"/>
          </a:ln>
        </p:spPr>
        <p:txBody>
          <a:bodyPr/>
          <a:lstStyle/>
          <a:p>
            <a:endParaRPr lang="en-IN"/>
          </a:p>
        </p:txBody>
      </p:sp>
      <p:sp>
        <p:nvSpPr>
          <p:cNvPr id="12" name="Shape 7"/>
          <p:cNvSpPr/>
          <p:nvPr/>
        </p:nvSpPr>
        <p:spPr>
          <a:xfrm>
            <a:off x="571500" y="6381598"/>
            <a:ext cx="190195" cy="190195"/>
          </a:xfrm>
          <a:prstGeom prst="rect">
            <a:avLst/>
          </a:prstGeom>
          <a:noFill/>
          <a:ln w="38100">
            <a:solidFill>
              <a:srgbClr val="88E555"/>
            </a:solidFill>
            <a:prstDash val="solid"/>
          </a:ln>
        </p:spPr>
        <p:txBody>
          <a:bodyPr/>
          <a:lstStyle/>
          <a:p>
            <a:endParaRPr lang="en-IN"/>
          </a:p>
        </p:txBody>
      </p:sp>
      <p:sp>
        <p:nvSpPr>
          <p:cNvPr id="13" name="Shape 8"/>
          <p:cNvSpPr/>
          <p:nvPr/>
        </p:nvSpPr>
        <p:spPr>
          <a:xfrm>
            <a:off x="11430000" y="6381598"/>
            <a:ext cx="190195" cy="190195"/>
          </a:xfrm>
          <a:prstGeom prst="rect">
            <a:avLst/>
          </a:prstGeom>
          <a:noFill/>
          <a:ln w="38100">
            <a:solidFill>
              <a:srgbClr val="88E555"/>
            </a:solidFill>
            <a:prstDash val="solid"/>
          </a:ln>
        </p:spPr>
        <p:txBody>
          <a:bodyPr/>
          <a:lstStyle/>
          <a:p>
            <a:endParaRPr lang="en-IN"/>
          </a:p>
        </p:txBody>
      </p:sp>
      <p:sp>
        <p:nvSpPr>
          <p:cNvPr id="14" name="Shape 9"/>
          <p:cNvSpPr/>
          <p:nvPr/>
        </p:nvSpPr>
        <p:spPr>
          <a:xfrm>
            <a:off x="961949" y="2173529"/>
            <a:ext cx="476402" cy="476402"/>
          </a:xfrm>
          <a:prstGeom prst="ellipse">
            <a:avLst/>
          </a:prstGeom>
          <a:solidFill>
            <a:srgbClr val="273383">
              <a:alpha val="50000"/>
            </a:srgbClr>
          </a:solidFill>
          <a:ln w="25400">
            <a:solidFill>
              <a:srgbClr val="AEFF82"/>
            </a:solidFill>
            <a:prstDash val="solid"/>
          </a:ln>
        </p:spPr>
        <p:txBody>
          <a:bodyPr/>
          <a:lstStyle/>
          <a:p>
            <a:endParaRPr lang="en-IN"/>
          </a:p>
        </p:txBody>
      </p:sp>
      <p:pic>
        <p:nvPicPr>
          <p:cNvPr id="15" name="Image 3" descr="preencoded.png"/>
          <p:cNvPicPr>
            <a:picLocks noChangeAspect="1"/>
          </p:cNvPicPr>
          <p:nvPr/>
        </p:nvPicPr>
        <p:blipFill>
          <a:blip r:embed="rId6"/>
          <a:srcRect/>
          <a:stretch/>
        </p:blipFill>
        <p:spPr>
          <a:xfrm>
            <a:off x="1086307" y="2297887"/>
            <a:ext cx="228600" cy="228600"/>
          </a:xfrm>
          <a:prstGeom prst="rect">
            <a:avLst/>
          </a:prstGeom>
        </p:spPr>
      </p:pic>
      <p:sp>
        <p:nvSpPr>
          <p:cNvPr id="16" name="Text 10"/>
          <p:cNvSpPr txBox="1"/>
          <p:nvPr/>
        </p:nvSpPr>
        <p:spPr>
          <a:xfrm>
            <a:off x="1628546" y="2173529"/>
            <a:ext cx="3810305" cy="267005"/>
          </a:xfrm>
          <a:prstGeom prst="rect">
            <a:avLst/>
          </a:prstGeom>
          <a:noFill/>
          <a:ln/>
        </p:spPr>
        <p:txBody>
          <a:bodyPr wrap="square" lIns="0" tIns="0" rIns="0" bIns="0" rtlCol="0" anchor="ctr"/>
          <a:lstStyle/>
          <a:p>
            <a:pPr marL="0" indent="0" algn="l">
              <a:buNone/>
            </a:pPr>
            <a:r>
              <a:rPr lang="en-US" sz="1500" b="1" dirty="0">
                <a:solidFill>
                  <a:srgbClr val="88E555"/>
                </a:solidFill>
                <a:latin typeface="Poppins" pitchFamily="34" charset="0"/>
                <a:ea typeface="Poppins" pitchFamily="34" charset="-122"/>
                <a:cs typeface="Poppins" pitchFamily="34" charset="-120"/>
              </a:rPr>
              <a:t>Research Background &amp; Methodology</a:t>
            </a:r>
            <a:endParaRPr lang="en-US" sz="1500" dirty="0"/>
          </a:p>
        </p:txBody>
      </p:sp>
      <p:sp>
        <p:nvSpPr>
          <p:cNvPr id="17" name="Text 11"/>
          <p:cNvSpPr txBox="1"/>
          <p:nvPr/>
        </p:nvSpPr>
        <p:spPr>
          <a:xfrm>
            <a:off x="1627632" y="2487168"/>
            <a:ext cx="9418320" cy="219456"/>
          </a:xfrm>
          <a:prstGeom prst="rect">
            <a:avLst/>
          </a:prstGeom>
          <a:noFill/>
          <a:ln/>
        </p:spPr>
        <p:txBody>
          <a:bodyPr wrap="square" lIns="0" tIns="0" rIns="0" bIns="0" rtlCol="0" anchor="ctr"/>
          <a:lstStyle/>
          <a:p>
            <a:pPr marL="0" indent="0" algn="l"/>
            <a:r>
              <a:rPr lang="en-US" sz="1000" dirty="0" i="0">
                <a:solidFill>
                  <a:srgbClr val="D1D5DB"/>
                </a:solidFill>
                <a:latin typeface="Poppins" pitchFamily="34" charset="0"/>
                <a:ea typeface="Poppins" pitchFamily="34" charset="-122"/>
                <a:cs typeface="Poppins" pitchFamily="34" charset="-120"/>
              </a:rPr>
              <a:t>Published restoration research, then calibrated to the degradation actually present in the inspection data.</a:t>
            </a:r>
            <a:endParaRPr lang="en-US" sz="1000" dirty="0"/>
          </a:p>
        </p:txBody>
      </p:sp>
      <p:sp>
        <p:nvSpPr>
          <p:cNvPr id="18" name="Shape 12"/>
          <p:cNvSpPr/>
          <p:nvPr/>
        </p:nvSpPr>
        <p:spPr>
          <a:xfrm>
            <a:off x="1627632" y="2743200"/>
            <a:ext cx="9601200" cy="1325880"/>
          </a:xfrm>
          <a:prstGeom prst="roundRect">
            <a:avLst>
              <a:gd name="adj" fmla="val 6121"/>
            </a:avLst>
          </a:prstGeom>
          <a:solidFill>
            <a:srgbClr val="1E3A8A">
              <a:alpha val="40000"/>
            </a:srgbClr>
          </a:solidFill>
          <a:ln w="12700">
            <a:solidFill>
              <a:srgbClr val="1D4ED8"/>
            </a:solidFill>
            <a:prstDash val="solid"/>
          </a:ln>
        </p:spPr>
        <p:txBody>
          <a:bodyPr/>
          <a:lstStyle/>
          <a:p>
            <a:endParaRPr lang="en-IN"/>
          </a:p>
        </p:txBody>
      </p:sp>
      <p:sp>
        <p:nvSpPr>
          <p:cNvPr id="19" name="Text 13"/>
          <p:cNvSpPr txBox="1"/>
          <p:nvPr/>
        </p:nvSpPr>
        <p:spPr>
          <a:xfrm>
            <a:off x="1792224" y="2889504"/>
            <a:ext cx="9281160" cy="1097280"/>
          </a:xfrm>
          <a:prstGeom prst="rect">
            <a:avLst/>
          </a:prstGeom>
          <a:noFill/>
          <a:ln/>
        </p:spPr>
        <p:txBody>
          <a:bodyPr wrap="square" lIns="0" tIns="0" rIns="0" bIns="0" rtlCol="0" anchor="t"/>
          <a:lstStyle/>
          <a:p>
            <a:pPr marL="155448" indent="-155448" algn="l">
              <a:buFont typeface="Arial"/>
              <a:buChar char="•"/>
            </a:pPr>
            <a:r>
              <a:rPr lang="en-US" sz="1100" i="0" dirty="0">
                <a:solidFill>
                  <a:srgbClr val="FFFFFF">
                    <a:alpha val="70000"/>
                  </a:srgbClr>
                </a:solidFill>
                <a:latin typeface="Poppins" pitchFamily="34" charset="0"/>
                <a:ea typeface="Poppins" pitchFamily="34" charset="-122"/>
                <a:cs typeface="Poppins" pitchFamily="34" charset="-120"/>
              </a:rPr>
              <a:t>NAFNet (ECCV 2022) showed activation-free SimpleGate blocks outperform ReLU/GELU designs on denoising and deblurring; we extend that block with explicit noise conditioning and a 2x super-resolution head.</a:t>
            </a:r>
            <a:endParaRPr lang="en-US" sz="1200" dirty="0"/>
          </a:p>
          <a:p>
            <a:pPr marL="155448" indent="-155448" algn="l">
              <a:spcBef>
                <a:spcPts val="300"/>
              </a:spcBef>
              <a:buFont typeface="Arial"/>
              <a:buChar char="•"/>
            </a:pPr>
            <a:r>
              <a:rPr lang="en-US" sz="1100" i="0" dirty="0">
                <a:solidFill>
                  <a:srgbClr val="FFFFFF">
                    <a:alpha val="70000"/>
                  </a:srgbClr>
                </a:solidFill>
                <a:latin typeface="Poppins" pitchFamily="34" charset="0"/>
                <a:ea typeface="Poppins" pitchFamily="34" charset="-122"/>
                <a:cs typeface="Poppins" pitchFamily="34" charset="-120"/>
              </a:rPr>
              <a:t>Noise-map conditioning follows FFDNet: telling the network the local noise level lets one model cover a wide degradation range instead of one model per noise level.</a:t>
            </a:r>
            <a:endParaRPr lang="en-US" sz="1200" dirty="0"/>
          </a:p>
          <a:p>
            <a:pPr marL="155448" indent="-155448" algn="l">
              <a:spcBef>
                <a:spcPts val="300"/>
              </a:spcBef>
              <a:buFont typeface="Arial"/>
              <a:buChar char="•"/>
            </a:pPr>
            <a:r>
              <a:rPr lang="en-US" sz="1100" i="0" dirty="0">
                <a:solidFill>
                  <a:srgbClr val="FFFFFF">
                    <a:alpha val="70000"/>
                  </a:srgbClr>
                </a:solidFill>
                <a:latin typeface="Poppins" pitchFamily="34" charset="0"/>
                <a:ea typeface="Poppins" pitchFamily="34" charset="-122"/>
                <a:cs typeface="Poppins" pitchFamily="34" charset="-120"/>
              </a:rPr>
              <a:t>Degradation was fitted from 200 sample pairs, and a variance-stabilising transform cut heteroscedasticity from 14.6x to 1.51x, so synthetic training pairs match the measured inspection noise.</a:t>
            </a:r>
            <a:endParaRPr lang="en-US" sz="1200" dirty="0"/>
          </a:p>
        </p:txBody>
      </p:sp>
      <p:sp>
        <p:nvSpPr>
          <p:cNvPr id="20" name="Shape 14"/>
          <p:cNvSpPr/>
          <p:nvPr/>
        </p:nvSpPr>
        <p:spPr>
          <a:xfrm>
            <a:off x="961949" y="4155034"/>
            <a:ext cx="476402" cy="476402"/>
          </a:xfrm>
          <a:prstGeom prst="ellipse">
            <a:avLst/>
          </a:prstGeom>
          <a:solidFill>
            <a:srgbClr val="273383">
              <a:alpha val="50000"/>
            </a:srgbClr>
          </a:solidFill>
          <a:ln w="25400">
            <a:solidFill>
              <a:srgbClr val="AEFF82"/>
            </a:solidFill>
            <a:prstDash val="solid"/>
          </a:ln>
        </p:spPr>
        <p:txBody>
          <a:bodyPr/>
          <a:lstStyle/>
          <a:p>
            <a:endParaRPr lang="en-IN"/>
          </a:p>
        </p:txBody>
      </p:sp>
      <p:pic>
        <p:nvPicPr>
          <p:cNvPr id="21" name="Image 4" descr="preencoded.png"/>
          <p:cNvPicPr>
            <a:picLocks noChangeAspect="1"/>
          </p:cNvPicPr>
          <p:nvPr/>
        </p:nvPicPr>
        <p:blipFill>
          <a:blip r:embed="rId7"/>
          <a:srcRect l="-80" r="-80"/>
          <a:stretch/>
        </p:blipFill>
        <p:spPr>
          <a:xfrm>
            <a:off x="1057046" y="4279392"/>
            <a:ext cx="286207" cy="228600"/>
          </a:xfrm>
          <a:prstGeom prst="rect">
            <a:avLst/>
          </a:prstGeom>
        </p:spPr>
      </p:pic>
      <p:sp>
        <p:nvSpPr>
          <p:cNvPr id="22" name="Text 15"/>
          <p:cNvSpPr txBox="1"/>
          <p:nvPr/>
        </p:nvSpPr>
        <p:spPr>
          <a:xfrm>
            <a:off x="1628546" y="4155034"/>
            <a:ext cx="2343607" cy="267005"/>
          </a:xfrm>
          <a:prstGeom prst="rect">
            <a:avLst/>
          </a:prstGeom>
          <a:noFill/>
          <a:ln/>
        </p:spPr>
        <p:txBody>
          <a:bodyPr wrap="square" lIns="0" tIns="0" rIns="0" bIns="0" rtlCol="0" anchor="ctr"/>
          <a:lstStyle/>
          <a:p>
            <a:pPr marL="0" indent="0" algn="l">
              <a:buNone/>
            </a:pPr>
            <a:r>
              <a:rPr lang="en-US" sz="1500" b="1" dirty="0">
                <a:solidFill>
                  <a:srgbClr val="88E555"/>
                </a:solidFill>
                <a:latin typeface="Poppins" pitchFamily="34" charset="0"/>
                <a:ea typeface="Poppins" pitchFamily="34" charset="-122"/>
                <a:cs typeface="Poppins" pitchFamily="34" charset="-120"/>
              </a:rPr>
              <a:t>References &amp; Citations</a:t>
            </a:r>
            <a:endParaRPr lang="en-US" sz="1500" dirty="0"/>
          </a:p>
        </p:txBody>
      </p:sp>
      <p:sp>
        <p:nvSpPr>
          <p:cNvPr id="23" name="Text 16"/>
          <p:cNvSpPr txBox="1"/>
          <p:nvPr/>
        </p:nvSpPr>
        <p:spPr>
          <a:xfrm>
            <a:off x="1627632" y="4498848"/>
            <a:ext cx="9418320" cy="219456"/>
          </a:xfrm>
          <a:prstGeom prst="rect">
            <a:avLst/>
          </a:prstGeom>
          <a:noFill/>
          <a:ln/>
        </p:spPr>
        <p:txBody>
          <a:bodyPr wrap="square" lIns="0" tIns="0" rIns="0" bIns="0" rtlCol="0" anchor="ctr"/>
          <a:lstStyle/>
          <a:p>
            <a:pPr marL="0" indent="0" algn="l"/>
            <a:r>
              <a:rPr lang="en-US" sz="1000" dirty="0" i="0">
                <a:solidFill>
                  <a:srgbClr val="D1D5DB"/>
                </a:solidFill>
                <a:latin typeface="Poppins" pitchFamily="34" charset="0"/>
                <a:ea typeface="Poppins" pitchFamily="34" charset="-122"/>
                <a:cs typeface="Poppins" pitchFamily="34" charset="-120"/>
              </a:rPr>
              <a:t>The three papers this architecture builds on directly.</a:t>
            </a:r>
            <a:endParaRPr lang="en-US" sz="1000" dirty="0"/>
          </a:p>
        </p:txBody>
      </p:sp>
      <p:sp>
        <p:nvSpPr>
          <p:cNvPr id="24" name="Shape 17"/>
          <p:cNvSpPr/>
          <p:nvPr/>
        </p:nvSpPr>
        <p:spPr>
          <a:xfrm>
            <a:off x="1627632" y="4754880"/>
            <a:ext cx="9601200" cy="1554480"/>
          </a:xfrm>
          <a:prstGeom prst="roundRect">
            <a:avLst>
              <a:gd name="adj" fmla="val 3505"/>
            </a:avLst>
          </a:prstGeom>
          <a:solidFill>
            <a:srgbClr val="1E3A8A">
              <a:alpha val="40000"/>
            </a:srgbClr>
          </a:solidFill>
          <a:ln w="12700">
            <a:solidFill>
              <a:srgbClr val="1D4ED8"/>
            </a:solidFill>
            <a:prstDash val="solid"/>
          </a:ln>
        </p:spPr>
        <p:txBody>
          <a:bodyPr/>
          <a:lstStyle/>
          <a:p>
            <a:endParaRPr lang="en-IN"/>
          </a:p>
        </p:txBody>
      </p:sp>
      <p:sp>
        <p:nvSpPr>
          <p:cNvPr id="25" name="Shape 18"/>
          <p:cNvSpPr/>
          <p:nvPr/>
        </p:nvSpPr>
        <p:spPr>
          <a:xfrm>
            <a:off x="1792224" y="5248656"/>
            <a:ext cx="9281160" cy="9144"/>
          </a:xfrm>
          <a:prstGeom prst="rect">
            <a:avLst/>
          </a:prstGeom>
          <a:solidFill>
            <a:srgbClr val="1E40AF">
              <a:alpha val="30000"/>
            </a:srgbClr>
          </a:solidFill>
          <a:ln/>
        </p:spPr>
        <p:txBody>
          <a:bodyPr/>
          <a:lstStyle/>
          <a:p>
            <a:endParaRPr lang="en-IN"/>
          </a:p>
        </p:txBody>
      </p:sp>
      <p:sp>
        <p:nvSpPr>
          <p:cNvPr id="26" name="Text 19"/>
          <p:cNvSpPr txBox="1"/>
          <p:nvPr/>
        </p:nvSpPr>
        <p:spPr>
          <a:xfrm>
            <a:off x="1792224" y="4892040"/>
            <a:ext cx="9281160" cy="256032"/>
          </a:xfrm>
          <a:prstGeom prst="rect">
            <a:avLst/>
          </a:prstGeom>
          <a:noFill/>
          <a:ln/>
        </p:spPr>
        <p:txBody>
          <a:bodyPr wrap="square" lIns="0" tIns="0" rIns="0" bIns="0" rtlCol="0" anchor="ctr"/>
          <a:lstStyle/>
          <a:p>
            <a:pPr marL="0" indent="0" algn="l"/>
            <a:r>
              <a:rPr lang="en-US" sz="1100" dirty="0" i="0">
                <a:solidFill>
                  <a:srgbClr val="FFFFFF">
                    <a:alpha val="80000"/>
                  </a:srgbClr>
                </a:solidFill>
                <a:latin typeface="Poppins" pitchFamily="34" charset="0"/>
                <a:ea typeface="Poppins" pitchFamily="34" charset="-122"/>
                <a:cs typeface="Poppins" pitchFamily="34" charset="-120"/>
              </a:rPr>
              <a:t>L. Chen, X. Chu, X. Zhang, J. Sun, “Simple Baselines for Image Restoration” (NAFNet), ECCV 2022 — arXiv:2204.04676</a:t>
            </a:r>
            <a:endParaRPr lang="en-US" sz="1200" dirty="0"/>
          </a:p>
        </p:txBody>
      </p:sp>
      <p:sp>
        <p:nvSpPr>
          <p:cNvPr id="27" name="Shape 20"/>
          <p:cNvSpPr/>
          <p:nvPr/>
        </p:nvSpPr>
        <p:spPr>
          <a:xfrm>
            <a:off x="1792224" y="5705856"/>
            <a:ext cx="9281160" cy="9144"/>
          </a:xfrm>
          <a:prstGeom prst="rect">
            <a:avLst/>
          </a:prstGeom>
          <a:solidFill>
            <a:srgbClr val="1E40AF">
              <a:alpha val="30000"/>
            </a:srgbClr>
          </a:solidFill>
          <a:ln/>
        </p:spPr>
        <p:txBody>
          <a:bodyPr/>
          <a:lstStyle/>
          <a:p>
            <a:endParaRPr lang="en-IN"/>
          </a:p>
        </p:txBody>
      </p:sp>
      <p:sp>
        <p:nvSpPr>
          <p:cNvPr id="28" name="Text 21"/>
          <p:cNvSpPr txBox="1"/>
          <p:nvPr/>
        </p:nvSpPr>
        <p:spPr>
          <a:xfrm>
            <a:off x="1792224" y="5349240"/>
            <a:ext cx="9281160" cy="256032"/>
          </a:xfrm>
          <a:prstGeom prst="rect">
            <a:avLst/>
          </a:prstGeom>
          <a:noFill/>
          <a:ln/>
        </p:spPr>
        <p:txBody>
          <a:bodyPr wrap="square" lIns="0" tIns="0" rIns="0" bIns="0" rtlCol="0" anchor="ctr"/>
          <a:lstStyle/>
          <a:p>
            <a:pPr marL="0" indent="0" algn="l"/>
            <a:r>
              <a:rPr lang="en-US" sz="1100" dirty="0" i="0">
                <a:solidFill>
                  <a:srgbClr val="FFFFFF">
                    <a:alpha val="80000"/>
                  </a:srgbClr>
                </a:solidFill>
                <a:latin typeface="Poppins" pitchFamily="34" charset="0"/>
                <a:ea typeface="Poppins" pitchFamily="34" charset="-122"/>
                <a:cs typeface="Poppins" pitchFamily="34" charset="-120"/>
              </a:rPr>
              <a:t>K. Zhang, W. Zuo, L. Zhang, “FFDNet: Fast and Flexible CNN-Based Image Denoising”, IEEE TIP 27(9), 2018 — arXiv:1710.04026</a:t>
            </a:r>
            <a:endParaRPr lang="en-US" sz="1200" dirty="0"/>
          </a:p>
        </p:txBody>
      </p:sp>
      <p:sp>
        <p:nvSpPr>
          <p:cNvPr id="29" name="Text 22"/>
          <p:cNvSpPr txBox="1"/>
          <p:nvPr/>
        </p:nvSpPr>
        <p:spPr>
          <a:xfrm>
            <a:off x="1792224" y="5806440"/>
            <a:ext cx="9281160" cy="256032"/>
          </a:xfrm>
          <a:prstGeom prst="rect">
            <a:avLst/>
          </a:prstGeom>
          <a:noFill/>
          <a:ln/>
        </p:spPr>
        <p:txBody>
          <a:bodyPr wrap="square" lIns="0" tIns="0" rIns="0" bIns="0" rtlCol="0" anchor="ctr"/>
          <a:lstStyle/>
          <a:p>
            <a:pPr marL="0" indent="0" algn="l"/>
            <a:r>
              <a:rPr lang="en-US" sz="1100" dirty="0" i="0">
                <a:solidFill>
                  <a:srgbClr val="FFFFFF">
                    <a:alpha val="80000"/>
                  </a:srgbClr>
                </a:solidFill>
                <a:latin typeface="Poppins" pitchFamily="34" charset="0"/>
                <a:ea typeface="Poppins" pitchFamily="34" charset="-122"/>
                <a:cs typeface="Poppins" pitchFamily="34" charset="-120"/>
              </a:rPr>
              <a:t>W. Shi et al., “Real-Time Super-Resolution with an Efficient Sub-Pixel CNN” (ESPCN), CVPR 2016 — arXiv:1609.05158</a:t>
            </a:r>
            <a:endParaRPr lang="en-US" sz="1200" dirty="0"/>
          </a:p>
        </p:txBody>
      </p:sp>
      <p:pic>
        <p:nvPicPr>
          <p:cNvPr id="30" name="Picture 29">
            <a:extLst>
              <a:ext uri="{FF2B5EF4-FFF2-40B4-BE49-F238E27FC236}">
                <a16:creationId xmlns:a16="http://schemas.microsoft.com/office/drawing/2014/main" id="{135E3709-F1C8-6E84-EA51-720EFCF71B26}"/>
              </a:ext>
            </a:extLst>
          </p:cNvPr>
          <p:cNvPicPr>
            <a:picLocks noChangeAspect="1"/>
          </p:cNvPicPr>
          <p:nvPr/>
        </p:nvPicPr>
        <p:blipFill>
          <a:blip r:embed="rId8"/>
          <a:stretch>
            <a:fillRect/>
          </a:stretch>
        </p:blipFill>
        <p:spPr>
          <a:xfrm>
            <a:off x="5292164" y="227710"/>
            <a:ext cx="1607366" cy="783591"/>
          </a:xfrm>
          <a:prstGeom prst="rect">
            <a:avLst/>
          </a:prstGeom>
        </p:spPr>
      </p:pic>
      <p:sp>
        <p:nvSpPr>
          <p:cNvPr id="32" name="Shape 1">
            <a:extLst>
              <a:ext uri="{FF2B5EF4-FFF2-40B4-BE49-F238E27FC236}">
                <a16:creationId xmlns:a16="http://schemas.microsoft.com/office/drawing/2014/main" id="{3E27E131-AC1D-E75C-0267-02565ACC1BC3}"/>
              </a:ext>
            </a:extLst>
          </p:cNvPr>
          <p:cNvSpPr/>
          <p:nvPr/>
        </p:nvSpPr>
        <p:spPr>
          <a:xfrm>
            <a:off x="571500" y="259714"/>
            <a:ext cx="11048695" cy="857707"/>
          </a:xfrm>
          <a:prstGeom prst="roundRect">
            <a:avLst>
              <a:gd name="adj" fmla="val 9476"/>
            </a:avLst>
          </a:prstGeom>
          <a:solidFill>
            <a:srgbClr val="FFFFFF">
              <a:alpha val="95000"/>
            </a:srgbClr>
          </a:solidFill>
          <a:ln/>
          <a:effectLst>
            <a:outerShdw blurRad="63500" dist="38100" dir="5400000" algn="bl" rotWithShape="0">
              <a:srgbClr val="000000">
                <a:alpha val="10000"/>
              </a:srgbClr>
            </a:outerShdw>
          </a:effectLst>
        </p:spPr>
        <p:txBody>
          <a:bodyPr/>
          <a:lstStyle/>
          <a:p>
            <a:endParaRPr lang="en-IN"/>
          </a:p>
        </p:txBody>
      </p:sp>
      <p:pic>
        <p:nvPicPr>
          <p:cNvPr id="33" name="Picture 32">
            <a:extLst>
              <a:ext uri="{FF2B5EF4-FFF2-40B4-BE49-F238E27FC236}">
                <a16:creationId xmlns:a16="http://schemas.microsoft.com/office/drawing/2014/main" id="{1D876DBE-D402-1B41-B952-69F6F5BF98C9}"/>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514101" y="390016"/>
            <a:ext cx="9163491" cy="58643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AEFF82"/>
      </a:hlink>
      <a:folHlink>
        <a:srgbClr val="AEFF8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AEFF82"/>
      </a:hlink>
      <a:folHlink>
        <a:srgbClr val="AEFF82"/>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187</TotalTime>
  <Words>775</Words>
  <Application>Microsoft Office PowerPoint</Application>
  <PresentationFormat>Widescreen</PresentationFormat>
  <Paragraphs>96</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Poppins</vt:lpstr>
      <vt:lpstr>ui-monospace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Generated by Gen-Spark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Multi-page HTML Content</dc:title>
  <dc:subject>PptxGenJS Presentation</dc:subject>
  <dc:creator>Visual Extract to PPTX Converter</dc:creator>
  <cp:lastModifiedBy>krishna.r6002@outlook.com</cp:lastModifiedBy>
  <cp:revision>3</cp:revision>
  <dcterms:created xsi:type="dcterms:W3CDTF">2026-01-15T05:38:47Z</dcterms:created>
  <dcterms:modified xsi:type="dcterms:W3CDTF">2026-08-18T11:00:21Z</dcterms:modified>
</cp:coreProperties>
</file>